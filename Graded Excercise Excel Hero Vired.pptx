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4" r:id="rId4"/>
    <p:sldId id="265" r:id="rId5"/>
    <p:sldId id="259" r:id="rId6"/>
    <p:sldId id="266" r:id="rId7"/>
    <p:sldId id="267" r:id="rId8"/>
    <p:sldId id="268" r:id="rId9"/>
    <p:sldId id="269" r:id="rId10"/>
    <p:sldId id="270" r:id="rId11"/>
    <p:sldId id="273" r:id="rId12"/>
    <p:sldId id="272" r:id="rId13"/>
    <p:sldId id="274" r:id="rId14"/>
    <p:sldId id="27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7FD969-E91F-E999-5A65-3025ACDC771E}"/>
              </a:ext>
            </a:extLst>
          </p:cNvPr>
          <p:cNvPicPr>
            <a:picLocks noChangeAspect="1"/>
          </p:cNvPicPr>
          <p:nvPr/>
        </p:nvPicPr>
        <p:blipFill>
          <a:blip r:embed="rId2"/>
          <a:stretch>
            <a:fillRect/>
          </a:stretch>
        </p:blipFill>
        <p:spPr>
          <a:xfrm>
            <a:off x="-1" y="0"/>
            <a:ext cx="9131611" cy="6858000"/>
          </a:xfrm>
          <a:prstGeom prst="rect">
            <a:avLst/>
          </a:prstGeom>
        </p:spPr>
      </p:pic>
      <p:sp>
        <p:nvSpPr>
          <p:cNvPr id="2" name="Title 1"/>
          <p:cNvSpPr>
            <a:spLocks noGrp="1"/>
          </p:cNvSpPr>
          <p:nvPr>
            <p:ph type="ctrTitle"/>
          </p:nvPr>
        </p:nvSpPr>
        <p:spPr>
          <a:xfrm>
            <a:off x="1275080" y="98425"/>
            <a:ext cx="7772400" cy="1470025"/>
          </a:xfrm>
        </p:spPr>
        <p:txBody>
          <a:bodyPr>
            <a:normAutofit/>
          </a:bodyPr>
          <a:lstStyle/>
          <a:p>
            <a:pPr algn="r"/>
            <a:r>
              <a:rPr sz="4000" b="1" dirty="0">
                <a:solidFill>
                  <a:srgbClr val="FFFF00"/>
                </a:solidFill>
              </a:rPr>
              <a:t>Streaming Service Performance Analysis</a:t>
            </a:r>
          </a:p>
        </p:txBody>
      </p:sp>
      <p:sp>
        <p:nvSpPr>
          <p:cNvPr id="3" name="Subtitle 2"/>
          <p:cNvSpPr>
            <a:spLocks noGrp="1"/>
          </p:cNvSpPr>
          <p:nvPr>
            <p:ph type="subTitle" idx="1"/>
          </p:nvPr>
        </p:nvSpPr>
        <p:spPr>
          <a:xfrm>
            <a:off x="2509520" y="2860040"/>
            <a:ext cx="6400800" cy="1752600"/>
          </a:xfrm>
        </p:spPr>
        <p:txBody>
          <a:bodyPr>
            <a:normAutofit/>
          </a:bodyPr>
          <a:lstStyle/>
          <a:p>
            <a:pPr algn="r"/>
            <a:r>
              <a:rPr sz="2800" b="1" dirty="0">
                <a:solidFill>
                  <a:srgbClr val="FFC000"/>
                </a:solidFill>
              </a:rPr>
              <a:t>Growth, Engagement &amp; Strategic Insights</a:t>
            </a:r>
          </a:p>
          <a:p>
            <a:pPr algn="r"/>
            <a:br>
              <a:rPr lang="en-IN" sz="2800" b="1" dirty="0">
                <a:solidFill>
                  <a:srgbClr val="FFC000"/>
                </a:solidFill>
              </a:rPr>
            </a:br>
            <a:r>
              <a:rPr sz="2800" b="1" dirty="0">
                <a:solidFill>
                  <a:srgbClr val="FFC000"/>
                </a:solidFill>
              </a:rPr>
              <a:t>Prepared for: </a:t>
            </a:r>
            <a:r>
              <a:rPr lang="en-IN" sz="2800" b="1" dirty="0">
                <a:solidFill>
                  <a:srgbClr val="FFC000"/>
                </a:solidFill>
              </a:rPr>
              <a:t>Hero </a:t>
            </a:r>
            <a:r>
              <a:rPr lang="en-IN" sz="2800" b="1" dirty="0" err="1">
                <a:solidFill>
                  <a:srgbClr val="FFC000"/>
                </a:solidFill>
              </a:rPr>
              <a:t>Vired</a:t>
            </a:r>
            <a:r>
              <a:rPr lang="en-IN" sz="2800" b="1" dirty="0">
                <a:solidFill>
                  <a:srgbClr val="FFC000"/>
                </a:solidFill>
              </a:rPr>
              <a:t> </a:t>
            </a:r>
            <a:endParaRPr sz="2800" b="1" dirty="0">
              <a:solidFill>
                <a:srgbClr val="FFC000"/>
              </a:solidFill>
            </a:endParaRPr>
          </a:p>
        </p:txBody>
      </p:sp>
      <p:sp>
        <p:nvSpPr>
          <p:cNvPr id="6" name="Subtitle 2">
            <a:extLst>
              <a:ext uri="{FF2B5EF4-FFF2-40B4-BE49-F238E27FC236}">
                <a16:creationId xmlns:a16="http://schemas.microsoft.com/office/drawing/2014/main" id="{38880746-6C0E-65C9-3EF9-3EBF46F7E063}"/>
              </a:ext>
            </a:extLst>
          </p:cNvPr>
          <p:cNvSpPr txBox="1">
            <a:spLocks/>
          </p:cNvSpPr>
          <p:nvPr/>
        </p:nvSpPr>
        <p:spPr>
          <a:xfrm>
            <a:off x="2509520" y="4902200"/>
            <a:ext cx="64008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endParaRPr lang="en-US" sz="2800" b="1" dirty="0">
              <a:solidFill>
                <a:schemeClr val="bg2">
                  <a:lumMod val="90000"/>
                </a:schemeClr>
              </a:solidFill>
            </a:endParaRPr>
          </a:p>
          <a:p>
            <a:pPr algn="r"/>
            <a:endParaRPr lang="en-US" sz="2800" b="1" dirty="0">
              <a:solidFill>
                <a:schemeClr val="bg2">
                  <a:lumMod val="90000"/>
                </a:schemeClr>
              </a:solidFill>
            </a:endParaRPr>
          </a:p>
          <a:p>
            <a:pPr algn="r"/>
            <a:r>
              <a:rPr lang="en-US" sz="2800" b="1" dirty="0">
                <a:solidFill>
                  <a:schemeClr val="bg2">
                    <a:lumMod val="90000"/>
                  </a:schemeClr>
                </a:solidFill>
              </a:rPr>
              <a:t>Created by : Akash Jadhav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FDBD-6647-C714-FD39-0D73385AEA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69222B-F86E-7BDD-572D-568075B1DA78}"/>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297DB5AC-25F7-BF9D-4E50-15C892BE64AE}"/>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329FA501-0828-F584-AB89-6C1D65715352}"/>
              </a:ext>
            </a:extLst>
          </p:cNvPr>
          <p:cNvSpPr txBox="1"/>
          <p:nvPr/>
        </p:nvSpPr>
        <p:spPr>
          <a:xfrm>
            <a:off x="3614730" y="287238"/>
            <a:ext cx="5415280" cy="707886"/>
          </a:xfrm>
          <a:prstGeom prst="rect">
            <a:avLst/>
          </a:prstGeom>
          <a:noFill/>
          <a:ln>
            <a:noFill/>
          </a:ln>
        </p:spPr>
        <p:txBody>
          <a:bodyPr wrap="square" rtlCol="0">
            <a:spAutoFit/>
          </a:bodyPr>
          <a:lstStyle/>
          <a:p>
            <a:r>
              <a:rPr lang="en-IN" sz="4000" b="1" u="sng" dirty="0">
                <a:solidFill>
                  <a:schemeClr val="bg1"/>
                </a:solidFill>
              </a:rPr>
              <a:t>Data Anomalies &amp; Logic</a:t>
            </a:r>
          </a:p>
        </p:txBody>
      </p:sp>
      <p:graphicFrame>
        <p:nvGraphicFramePr>
          <p:cNvPr id="12" name="Table 11">
            <a:extLst>
              <a:ext uri="{FF2B5EF4-FFF2-40B4-BE49-F238E27FC236}">
                <a16:creationId xmlns:a16="http://schemas.microsoft.com/office/drawing/2014/main" id="{6A3B0358-7096-5F7D-F967-CAAB5D04553D}"/>
              </a:ext>
            </a:extLst>
          </p:cNvPr>
          <p:cNvGraphicFramePr>
            <a:graphicFrameLocks noGrp="1"/>
          </p:cNvGraphicFramePr>
          <p:nvPr>
            <p:extLst>
              <p:ext uri="{D42A27DB-BD31-4B8C-83A1-F6EECF244321}">
                <p14:modId xmlns:p14="http://schemas.microsoft.com/office/powerpoint/2010/main" val="2509021726"/>
              </p:ext>
            </p:extLst>
          </p:nvPr>
        </p:nvGraphicFramePr>
        <p:xfrm>
          <a:off x="2123441" y="1766332"/>
          <a:ext cx="6827520" cy="911860"/>
        </p:xfrm>
        <a:graphic>
          <a:graphicData uri="http://schemas.openxmlformats.org/drawingml/2006/table">
            <a:tbl>
              <a:tblPr>
                <a:tableStyleId>{5C22544A-7EE6-4342-B048-85BDC9FD1C3A}</a:tableStyleId>
              </a:tblPr>
              <a:tblGrid>
                <a:gridCol w="1925712">
                  <a:extLst>
                    <a:ext uri="{9D8B030D-6E8A-4147-A177-3AD203B41FA5}">
                      <a16:colId xmlns:a16="http://schemas.microsoft.com/office/drawing/2014/main" val="3746565203"/>
                    </a:ext>
                  </a:extLst>
                </a:gridCol>
                <a:gridCol w="4901808">
                  <a:extLst>
                    <a:ext uri="{9D8B030D-6E8A-4147-A177-3AD203B41FA5}">
                      <a16:colId xmlns:a16="http://schemas.microsoft.com/office/drawing/2014/main" val="1712410424"/>
                    </a:ext>
                  </a:extLst>
                </a:gridCol>
              </a:tblGrid>
              <a:tr h="911860">
                <a:tc>
                  <a:txBody>
                    <a:bodyPr/>
                    <a:lstStyle/>
                    <a:p>
                      <a:pPr algn="ctr" fontAlgn="ctr">
                        <a:buNone/>
                      </a:pPr>
                      <a:r>
                        <a:rPr lang="en-IN" sz="1400" b="1" i="0" u="none" strike="noStrike" dirty="0">
                          <a:solidFill>
                            <a:srgbClr val="000000"/>
                          </a:solidFill>
                          <a:effectLst/>
                          <a:latin typeface="Calibri" panose="020F0502020204030204" pitchFamily="34" charset="0"/>
                        </a:rPr>
                        <a:t>Error - 1</a:t>
                      </a:r>
                    </a:p>
                  </a:txBody>
                  <a:tcPr marL="7620" marR="7620" marT="7620" marB="0" anchor="ctr"/>
                </a:tc>
                <a:tc>
                  <a:txBody>
                    <a:bodyPr/>
                    <a:lstStyle/>
                    <a:p>
                      <a:pPr algn="ctr" fontAlgn="ctr">
                        <a:buNone/>
                      </a:pPr>
                      <a:r>
                        <a:rPr lang="en-US" sz="1400" b="1" i="0" u="none" strike="noStrike" dirty="0">
                          <a:solidFill>
                            <a:srgbClr val="000000"/>
                          </a:solidFill>
                          <a:effectLst/>
                          <a:latin typeface="Calibri" panose="020F0502020204030204" pitchFamily="34" charset="0"/>
                        </a:rPr>
                        <a:t>There are 19 Users above where if you see the Join Date &amp; Last Login shows negative value as the Join date can not be higher than the Last login date </a:t>
                      </a:r>
                    </a:p>
                  </a:txBody>
                  <a:tcPr marL="7620" marR="7620" marT="7620" marB="0" anchor="ctr"/>
                </a:tc>
                <a:extLst>
                  <a:ext uri="{0D108BD9-81ED-4DB2-BD59-A6C34878D82A}">
                    <a16:rowId xmlns:a16="http://schemas.microsoft.com/office/drawing/2014/main" val="1608762547"/>
                  </a:ext>
                </a:extLst>
              </a:tr>
            </a:tbl>
          </a:graphicData>
        </a:graphic>
      </p:graphicFrame>
      <p:graphicFrame>
        <p:nvGraphicFramePr>
          <p:cNvPr id="13" name="Table 12">
            <a:extLst>
              <a:ext uri="{FF2B5EF4-FFF2-40B4-BE49-F238E27FC236}">
                <a16:creationId xmlns:a16="http://schemas.microsoft.com/office/drawing/2014/main" id="{E9CAA148-DAB3-EF9C-F956-DAB3E7E9AA47}"/>
              </a:ext>
            </a:extLst>
          </p:cNvPr>
          <p:cNvGraphicFramePr>
            <a:graphicFrameLocks noGrp="1"/>
          </p:cNvGraphicFramePr>
          <p:nvPr>
            <p:extLst>
              <p:ext uri="{D42A27DB-BD31-4B8C-83A1-F6EECF244321}">
                <p14:modId xmlns:p14="http://schemas.microsoft.com/office/powerpoint/2010/main" val="3248975459"/>
              </p:ext>
            </p:extLst>
          </p:nvPr>
        </p:nvGraphicFramePr>
        <p:xfrm>
          <a:off x="2123440" y="2894528"/>
          <a:ext cx="6827519" cy="911860"/>
        </p:xfrm>
        <a:graphic>
          <a:graphicData uri="http://schemas.openxmlformats.org/drawingml/2006/table">
            <a:tbl>
              <a:tblPr>
                <a:tableStyleId>{5C22544A-7EE6-4342-B048-85BDC9FD1C3A}</a:tableStyleId>
              </a:tblPr>
              <a:tblGrid>
                <a:gridCol w="1925712">
                  <a:extLst>
                    <a:ext uri="{9D8B030D-6E8A-4147-A177-3AD203B41FA5}">
                      <a16:colId xmlns:a16="http://schemas.microsoft.com/office/drawing/2014/main" val="3746565203"/>
                    </a:ext>
                  </a:extLst>
                </a:gridCol>
                <a:gridCol w="4901807">
                  <a:extLst>
                    <a:ext uri="{9D8B030D-6E8A-4147-A177-3AD203B41FA5}">
                      <a16:colId xmlns:a16="http://schemas.microsoft.com/office/drawing/2014/main" val="1712410424"/>
                    </a:ext>
                  </a:extLst>
                </a:gridCol>
              </a:tblGrid>
              <a:tr h="911860">
                <a:tc>
                  <a:txBody>
                    <a:bodyPr/>
                    <a:lstStyle/>
                    <a:p>
                      <a:pPr algn="ctr" fontAlgn="ctr">
                        <a:buNone/>
                      </a:pPr>
                      <a:r>
                        <a:rPr lang="en-IN" sz="1400" b="1" i="0" u="none" strike="noStrike" dirty="0">
                          <a:solidFill>
                            <a:srgbClr val="000000"/>
                          </a:solidFill>
                          <a:effectLst/>
                          <a:latin typeface="Calibri" panose="020F0502020204030204" pitchFamily="34" charset="0"/>
                        </a:rPr>
                        <a:t>Fix - 1</a:t>
                      </a:r>
                    </a:p>
                  </a:txBody>
                  <a:tcPr marL="7620" marR="7620" marT="7620" marB="0" anchor="ctr"/>
                </a:tc>
                <a:tc>
                  <a:txBody>
                    <a:bodyPr/>
                    <a:lstStyle/>
                    <a:p>
                      <a:pPr algn="ctr" fontAlgn="ctr">
                        <a:buNone/>
                      </a:pPr>
                      <a:r>
                        <a:rPr lang="en-US" sz="1400" b="1" i="0" u="none" strike="noStrike" dirty="0">
                          <a:solidFill>
                            <a:srgbClr val="000000"/>
                          </a:solidFill>
                          <a:effectLst/>
                          <a:latin typeface="Calibri" panose="020F0502020204030204" pitchFamily="34" charset="0"/>
                        </a:rPr>
                        <a:t>Hence, I've swapped the last login date and join date to process with report building</a:t>
                      </a:r>
                    </a:p>
                  </a:txBody>
                  <a:tcPr marL="7620" marR="7620" marT="7620" marB="0" anchor="ctr"/>
                </a:tc>
                <a:extLst>
                  <a:ext uri="{0D108BD9-81ED-4DB2-BD59-A6C34878D82A}">
                    <a16:rowId xmlns:a16="http://schemas.microsoft.com/office/drawing/2014/main" val="1608762547"/>
                  </a:ext>
                </a:extLst>
              </a:tr>
            </a:tbl>
          </a:graphicData>
        </a:graphic>
      </p:graphicFrame>
      <p:graphicFrame>
        <p:nvGraphicFramePr>
          <p:cNvPr id="15" name="Table 14">
            <a:extLst>
              <a:ext uri="{FF2B5EF4-FFF2-40B4-BE49-F238E27FC236}">
                <a16:creationId xmlns:a16="http://schemas.microsoft.com/office/drawing/2014/main" id="{D05FE1EA-34B4-AEBC-E936-6D5A1A05383C}"/>
              </a:ext>
            </a:extLst>
          </p:cNvPr>
          <p:cNvGraphicFramePr>
            <a:graphicFrameLocks noGrp="1"/>
          </p:cNvGraphicFramePr>
          <p:nvPr>
            <p:extLst>
              <p:ext uri="{D42A27DB-BD31-4B8C-83A1-F6EECF244321}">
                <p14:modId xmlns:p14="http://schemas.microsoft.com/office/powerpoint/2010/main" val="3707667658"/>
              </p:ext>
            </p:extLst>
          </p:nvPr>
        </p:nvGraphicFramePr>
        <p:xfrm>
          <a:off x="2123440" y="4121666"/>
          <a:ext cx="6827519" cy="911860"/>
        </p:xfrm>
        <a:graphic>
          <a:graphicData uri="http://schemas.openxmlformats.org/drawingml/2006/table">
            <a:tbl>
              <a:tblPr>
                <a:tableStyleId>{5C22544A-7EE6-4342-B048-85BDC9FD1C3A}</a:tableStyleId>
              </a:tblPr>
              <a:tblGrid>
                <a:gridCol w="1925712">
                  <a:extLst>
                    <a:ext uri="{9D8B030D-6E8A-4147-A177-3AD203B41FA5}">
                      <a16:colId xmlns:a16="http://schemas.microsoft.com/office/drawing/2014/main" val="3746565203"/>
                    </a:ext>
                  </a:extLst>
                </a:gridCol>
                <a:gridCol w="4901807">
                  <a:extLst>
                    <a:ext uri="{9D8B030D-6E8A-4147-A177-3AD203B41FA5}">
                      <a16:colId xmlns:a16="http://schemas.microsoft.com/office/drawing/2014/main" val="1712410424"/>
                    </a:ext>
                  </a:extLst>
                </a:gridCol>
              </a:tblGrid>
              <a:tr h="911860">
                <a:tc>
                  <a:txBody>
                    <a:bodyPr/>
                    <a:lstStyle/>
                    <a:p>
                      <a:pPr algn="ctr" fontAlgn="ctr">
                        <a:buNone/>
                      </a:pPr>
                      <a:r>
                        <a:rPr lang="en-IN" sz="1400" b="1" i="0" u="none" strike="noStrike" dirty="0">
                          <a:solidFill>
                            <a:srgbClr val="000000"/>
                          </a:solidFill>
                          <a:effectLst/>
                          <a:latin typeface="Calibri" panose="020F0502020204030204" pitchFamily="34" charset="0"/>
                        </a:rPr>
                        <a:t>Error - 2</a:t>
                      </a:r>
                    </a:p>
                  </a:txBody>
                  <a:tcPr marL="7620" marR="7620" marT="7620" marB="0" anchor="ctr"/>
                </a:tc>
                <a:tc>
                  <a:txBody>
                    <a:bodyPr/>
                    <a:lstStyle/>
                    <a:p>
                      <a:pPr algn="ctr" fontAlgn="ctr">
                        <a:buNone/>
                      </a:pPr>
                      <a:r>
                        <a:rPr lang="en-US" sz="1400" b="1" i="0" u="none" strike="noStrike" dirty="0">
                          <a:solidFill>
                            <a:srgbClr val="000000"/>
                          </a:solidFill>
                          <a:effectLst/>
                          <a:latin typeface="Calibri" panose="020F0502020204030204" pitchFamily="34" charset="0"/>
                        </a:rPr>
                        <a:t>User ID 4115 - You can see the Join Date &amp; Last Login Date shows the same date, however watched hours show as 158 which is not technically possible in the real life as 1 day only have 24 hours. </a:t>
                      </a:r>
                    </a:p>
                  </a:txBody>
                  <a:tcPr marL="7620" marR="7620" marT="7620" marB="0" anchor="ctr"/>
                </a:tc>
                <a:extLst>
                  <a:ext uri="{0D108BD9-81ED-4DB2-BD59-A6C34878D82A}">
                    <a16:rowId xmlns:a16="http://schemas.microsoft.com/office/drawing/2014/main" val="1608762547"/>
                  </a:ext>
                </a:extLst>
              </a:tr>
            </a:tbl>
          </a:graphicData>
        </a:graphic>
      </p:graphicFrame>
      <p:graphicFrame>
        <p:nvGraphicFramePr>
          <p:cNvPr id="17" name="Table 16">
            <a:extLst>
              <a:ext uri="{FF2B5EF4-FFF2-40B4-BE49-F238E27FC236}">
                <a16:creationId xmlns:a16="http://schemas.microsoft.com/office/drawing/2014/main" id="{BB71A20E-0AA0-994A-2877-0641839A5684}"/>
              </a:ext>
            </a:extLst>
          </p:cNvPr>
          <p:cNvGraphicFramePr>
            <a:graphicFrameLocks noGrp="1"/>
          </p:cNvGraphicFramePr>
          <p:nvPr>
            <p:extLst>
              <p:ext uri="{D42A27DB-BD31-4B8C-83A1-F6EECF244321}">
                <p14:modId xmlns:p14="http://schemas.microsoft.com/office/powerpoint/2010/main" val="2411387443"/>
              </p:ext>
            </p:extLst>
          </p:nvPr>
        </p:nvGraphicFramePr>
        <p:xfrm>
          <a:off x="2123441" y="5299333"/>
          <a:ext cx="6817357" cy="911860"/>
        </p:xfrm>
        <a:graphic>
          <a:graphicData uri="http://schemas.openxmlformats.org/drawingml/2006/table">
            <a:tbl>
              <a:tblPr>
                <a:tableStyleId>{5C22544A-7EE6-4342-B048-85BDC9FD1C3A}</a:tableStyleId>
              </a:tblPr>
              <a:tblGrid>
                <a:gridCol w="1922845">
                  <a:extLst>
                    <a:ext uri="{9D8B030D-6E8A-4147-A177-3AD203B41FA5}">
                      <a16:colId xmlns:a16="http://schemas.microsoft.com/office/drawing/2014/main" val="3746565203"/>
                    </a:ext>
                  </a:extLst>
                </a:gridCol>
                <a:gridCol w="4894512">
                  <a:extLst>
                    <a:ext uri="{9D8B030D-6E8A-4147-A177-3AD203B41FA5}">
                      <a16:colId xmlns:a16="http://schemas.microsoft.com/office/drawing/2014/main" val="1712410424"/>
                    </a:ext>
                  </a:extLst>
                </a:gridCol>
              </a:tblGrid>
              <a:tr h="911860">
                <a:tc>
                  <a:txBody>
                    <a:bodyPr/>
                    <a:lstStyle/>
                    <a:p>
                      <a:pPr algn="ctr" fontAlgn="ctr">
                        <a:buNone/>
                      </a:pPr>
                      <a:r>
                        <a:rPr lang="en-IN" sz="1400" b="1" i="0" u="none" strike="noStrike" dirty="0">
                          <a:solidFill>
                            <a:srgbClr val="000000"/>
                          </a:solidFill>
                          <a:effectLst/>
                          <a:latin typeface="Calibri" panose="020F0502020204030204" pitchFamily="34" charset="0"/>
                        </a:rPr>
                        <a:t>Fix - 2</a:t>
                      </a:r>
                    </a:p>
                  </a:txBody>
                  <a:tcPr marL="7620" marR="7620" marT="7620" marB="0" anchor="ctr"/>
                </a:tc>
                <a:tc>
                  <a:txBody>
                    <a:bodyPr/>
                    <a:lstStyle/>
                    <a:p>
                      <a:pPr algn="ctr" fontAlgn="ctr">
                        <a:buNone/>
                      </a:pPr>
                      <a:r>
                        <a:rPr lang="en-US" sz="1400" b="1" i="0" u="none" strike="noStrike" dirty="0">
                          <a:solidFill>
                            <a:srgbClr val="000000"/>
                          </a:solidFill>
                          <a:effectLst/>
                          <a:latin typeface="Calibri" panose="020F0502020204030204" pitchFamily="34" charset="0"/>
                        </a:rPr>
                        <a:t>I've updated the Last Login date greater by 1 month from Joined Date to process with report building</a:t>
                      </a:r>
                    </a:p>
                  </a:txBody>
                  <a:tcPr marL="7620" marR="7620" marT="7620" marB="0" anchor="ctr"/>
                </a:tc>
                <a:extLst>
                  <a:ext uri="{0D108BD9-81ED-4DB2-BD59-A6C34878D82A}">
                    <a16:rowId xmlns:a16="http://schemas.microsoft.com/office/drawing/2014/main" val="1608762547"/>
                  </a:ext>
                </a:extLst>
              </a:tr>
            </a:tbl>
          </a:graphicData>
        </a:graphic>
      </p:graphicFrame>
    </p:spTree>
    <p:extLst>
      <p:ext uri="{BB962C8B-B14F-4D97-AF65-F5344CB8AC3E}">
        <p14:creationId xmlns:p14="http://schemas.microsoft.com/office/powerpoint/2010/main" val="559978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DC63-7778-C9A1-EBC8-D87B443A4A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16390CC-7823-FB00-1028-9DDB56A5CE11}"/>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3B822FF4-72A8-3335-4A3F-E1AF7415CBC0}"/>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3CBFF9D5-183E-8456-47EC-254B654E5ABB}"/>
              </a:ext>
            </a:extLst>
          </p:cNvPr>
          <p:cNvSpPr txBox="1"/>
          <p:nvPr/>
        </p:nvSpPr>
        <p:spPr>
          <a:xfrm>
            <a:off x="3614730" y="287238"/>
            <a:ext cx="5415280" cy="1323439"/>
          </a:xfrm>
          <a:prstGeom prst="rect">
            <a:avLst/>
          </a:prstGeom>
          <a:noFill/>
          <a:ln>
            <a:noFill/>
          </a:ln>
        </p:spPr>
        <p:txBody>
          <a:bodyPr wrap="square" rtlCol="0">
            <a:spAutoFit/>
          </a:bodyPr>
          <a:lstStyle/>
          <a:p>
            <a:pPr algn="r"/>
            <a:r>
              <a:rPr lang="en-US" sz="4000" b="1" u="sng" dirty="0">
                <a:solidFill>
                  <a:schemeClr val="bg1"/>
                </a:solidFill>
              </a:rPr>
              <a:t>Supported</a:t>
            </a:r>
            <a:r>
              <a:rPr lang="en-IN" sz="4000" b="1" u="sng" dirty="0">
                <a:solidFill>
                  <a:schemeClr val="bg1"/>
                </a:solidFill>
              </a:rPr>
              <a:t> Columns Created</a:t>
            </a:r>
          </a:p>
        </p:txBody>
      </p:sp>
      <p:graphicFrame>
        <p:nvGraphicFramePr>
          <p:cNvPr id="9" name="Table 8">
            <a:extLst>
              <a:ext uri="{FF2B5EF4-FFF2-40B4-BE49-F238E27FC236}">
                <a16:creationId xmlns:a16="http://schemas.microsoft.com/office/drawing/2014/main" id="{9FC5F807-689A-54B9-CF03-4AF6440FB5B7}"/>
              </a:ext>
            </a:extLst>
          </p:cNvPr>
          <p:cNvGraphicFramePr>
            <a:graphicFrameLocks noGrp="1"/>
          </p:cNvGraphicFramePr>
          <p:nvPr>
            <p:extLst>
              <p:ext uri="{D42A27DB-BD31-4B8C-83A1-F6EECF244321}">
                <p14:modId xmlns:p14="http://schemas.microsoft.com/office/powerpoint/2010/main" val="1738642065"/>
              </p:ext>
            </p:extLst>
          </p:nvPr>
        </p:nvGraphicFramePr>
        <p:xfrm>
          <a:off x="2479040" y="1728175"/>
          <a:ext cx="6278880" cy="4510064"/>
        </p:xfrm>
        <a:graphic>
          <a:graphicData uri="http://schemas.openxmlformats.org/drawingml/2006/table">
            <a:tbl>
              <a:tblPr>
                <a:tableStyleId>{5C22544A-7EE6-4342-B048-85BDC9FD1C3A}</a:tableStyleId>
              </a:tblPr>
              <a:tblGrid>
                <a:gridCol w="454873">
                  <a:extLst>
                    <a:ext uri="{9D8B030D-6E8A-4147-A177-3AD203B41FA5}">
                      <a16:colId xmlns:a16="http://schemas.microsoft.com/office/drawing/2014/main" val="2196011637"/>
                    </a:ext>
                  </a:extLst>
                </a:gridCol>
                <a:gridCol w="1594838">
                  <a:extLst>
                    <a:ext uri="{9D8B030D-6E8A-4147-A177-3AD203B41FA5}">
                      <a16:colId xmlns:a16="http://schemas.microsoft.com/office/drawing/2014/main" val="3258935526"/>
                    </a:ext>
                  </a:extLst>
                </a:gridCol>
                <a:gridCol w="4229169">
                  <a:extLst>
                    <a:ext uri="{9D8B030D-6E8A-4147-A177-3AD203B41FA5}">
                      <a16:colId xmlns:a16="http://schemas.microsoft.com/office/drawing/2014/main" val="2094242210"/>
                    </a:ext>
                  </a:extLst>
                </a:gridCol>
              </a:tblGrid>
              <a:tr h="783287">
                <a:tc>
                  <a:txBody>
                    <a:bodyPr/>
                    <a:lstStyle/>
                    <a:p>
                      <a:pPr algn="ctr" fontAlgn="ctr">
                        <a:buNone/>
                      </a:pPr>
                      <a:endParaRPr lang="en-IN" sz="1200" b="1" u="none" strike="noStrike" dirty="0">
                        <a:solidFill>
                          <a:srgbClr val="C00000"/>
                        </a:solidFill>
                        <a:effectLst/>
                      </a:endParaRPr>
                    </a:p>
                    <a:p>
                      <a:pPr algn="ctr" fontAlgn="ctr">
                        <a:buNone/>
                      </a:pPr>
                      <a:r>
                        <a:rPr lang="en-IN" sz="1200" b="1" u="none" strike="noStrike" dirty="0">
                          <a:solidFill>
                            <a:srgbClr val="C00000"/>
                          </a:solidFill>
                          <a:effectLst/>
                        </a:rPr>
                        <a:t>Sr. No.</a:t>
                      </a:r>
                    </a:p>
                    <a:p>
                      <a:pPr algn="ctr" fontAlgn="ctr">
                        <a:buNone/>
                      </a:pPr>
                      <a:r>
                        <a:rPr lang="en-IN" sz="1200" b="1" u="none" strike="noStrike" dirty="0">
                          <a:solidFill>
                            <a:srgbClr val="C00000"/>
                          </a:solidFill>
                          <a:effectLst/>
                        </a:rPr>
                        <a:t> </a:t>
                      </a:r>
                      <a:endParaRPr lang="en-IN" sz="1200" b="1" i="0" u="none" strike="noStrike" dirty="0">
                        <a:solidFill>
                          <a:srgbClr val="C00000"/>
                        </a:solidFill>
                        <a:effectLst/>
                        <a:latin typeface="Calibri" panose="020F0502020204030204" pitchFamily="34" charset="0"/>
                      </a:endParaRPr>
                    </a:p>
                  </a:txBody>
                  <a:tcPr marL="5404" marR="5404" marT="5404" marB="0" anchor="ctr"/>
                </a:tc>
                <a:tc>
                  <a:txBody>
                    <a:bodyPr/>
                    <a:lstStyle/>
                    <a:p>
                      <a:pPr algn="ctr" fontAlgn="ctr">
                        <a:buNone/>
                      </a:pPr>
                      <a:endParaRPr lang="en-IN" sz="1200" b="1" u="none" strike="noStrike" dirty="0">
                        <a:solidFill>
                          <a:srgbClr val="C00000"/>
                        </a:solidFill>
                        <a:effectLst/>
                      </a:endParaRPr>
                    </a:p>
                    <a:p>
                      <a:pPr algn="ctr" fontAlgn="ctr">
                        <a:buNone/>
                      </a:pPr>
                      <a:r>
                        <a:rPr lang="en-IN" sz="1200" b="1" u="none" strike="noStrike" dirty="0">
                          <a:solidFill>
                            <a:srgbClr val="C00000"/>
                          </a:solidFill>
                          <a:effectLst/>
                        </a:rPr>
                        <a:t>Column Name</a:t>
                      </a:r>
                    </a:p>
                    <a:p>
                      <a:pPr algn="ctr" fontAlgn="ctr">
                        <a:buNone/>
                      </a:pPr>
                      <a:endParaRPr lang="en-IN" sz="1200" b="1" i="0" u="none" strike="noStrike" dirty="0">
                        <a:solidFill>
                          <a:srgbClr val="C00000"/>
                        </a:solidFill>
                        <a:effectLst/>
                        <a:latin typeface="Calibri" panose="020F0502020204030204" pitchFamily="34" charset="0"/>
                      </a:endParaRPr>
                    </a:p>
                  </a:txBody>
                  <a:tcPr marL="5404" marR="5404" marT="5404" marB="0" anchor="ctr"/>
                </a:tc>
                <a:tc>
                  <a:txBody>
                    <a:bodyPr/>
                    <a:lstStyle/>
                    <a:p>
                      <a:pPr algn="ctr" fontAlgn="ctr">
                        <a:buNone/>
                      </a:pPr>
                      <a:endParaRPr lang="en-IN" sz="1200" b="1" u="none" strike="noStrike" dirty="0">
                        <a:solidFill>
                          <a:srgbClr val="C00000"/>
                        </a:solidFill>
                        <a:effectLst/>
                      </a:endParaRPr>
                    </a:p>
                    <a:p>
                      <a:pPr algn="ctr" fontAlgn="ctr">
                        <a:buNone/>
                      </a:pPr>
                      <a:r>
                        <a:rPr lang="en-IN" sz="1200" b="1" u="none" strike="noStrike" dirty="0">
                          <a:solidFill>
                            <a:srgbClr val="C00000"/>
                          </a:solidFill>
                          <a:effectLst/>
                        </a:rPr>
                        <a:t>Logic Used</a:t>
                      </a:r>
                    </a:p>
                    <a:p>
                      <a:pPr algn="ctr" fontAlgn="ctr">
                        <a:buNone/>
                      </a:pPr>
                      <a:endParaRPr lang="en-IN" sz="1200" b="1" i="0" u="none" strike="noStrike" dirty="0">
                        <a:solidFill>
                          <a:srgbClr val="C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467807388"/>
                  </a:ext>
                </a:extLst>
              </a:tr>
              <a:tr h="199519">
                <a:tc>
                  <a:txBody>
                    <a:bodyPr/>
                    <a:lstStyle/>
                    <a:p>
                      <a:pPr algn="ctr" fontAlgn="ctr">
                        <a:buNone/>
                      </a:pPr>
                      <a:r>
                        <a:rPr lang="en-IN" sz="1200" b="1" u="none" strike="noStrike">
                          <a:effectLst/>
                        </a:rPr>
                        <a:t>1</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a:effectLst/>
                        </a:rPr>
                        <a:t>Tenure Days</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a:effectLst/>
                        </a:rPr>
                        <a:t>Last Login - Joined Date</a:t>
                      </a:r>
                      <a:endParaRPr lang="en-IN" sz="1200" b="1" i="0" u="none" strike="noStrike">
                        <a:solidFill>
                          <a:srgbClr val="0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3995642983"/>
                  </a:ext>
                </a:extLst>
              </a:tr>
              <a:tr h="394108">
                <a:tc>
                  <a:txBody>
                    <a:bodyPr/>
                    <a:lstStyle/>
                    <a:p>
                      <a:pPr algn="ctr" fontAlgn="ctr">
                        <a:buNone/>
                      </a:pPr>
                      <a:r>
                        <a:rPr lang="en-IN" sz="1200" b="1" u="none" strike="noStrike" dirty="0">
                          <a:effectLst/>
                        </a:rPr>
                        <a:t>2</a:t>
                      </a:r>
                      <a:endParaRPr lang="en-IN" sz="1200" b="1" i="0" u="none" strike="noStrike" dirty="0">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dirty="0">
                          <a:effectLst/>
                        </a:rPr>
                        <a:t>Price Tier </a:t>
                      </a:r>
                      <a:endParaRPr lang="en-IN" sz="1200" b="1" i="0" u="none" strike="noStrike" dirty="0">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US" sz="1200" b="1" u="none" strike="noStrike">
                          <a:effectLst/>
                        </a:rPr>
                        <a:t>Given Names To Subsciption Prices - Basic - 7.99, Standard - 11.99, &amp; Premium - 15.99</a:t>
                      </a:r>
                      <a:endParaRPr lang="en-US" sz="1200" b="1" i="0" u="none" strike="noStrike">
                        <a:solidFill>
                          <a:srgbClr val="0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3091274142"/>
                  </a:ext>
                </a:extLst>
              </a:tr>
              <a:tr h="394108">
                <a:tc>
                  <a:txBody>
                    <a:bodyPr/>
                    <a:lstStyle/>
                    <a:p>
                      <a:pPr algn="ctr" fontAlgn="ctr">
                        <a:buNone/>
                      </a:pPr>
                      <a:r>
                        <a:rPr lang="en-IN" sz="1200" b="1" u="none" strike="noStrike">
                          <a:effectLst/>
                        </a:rPr>
                        <a:t>3</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dirty="0">
                          <a:effectLst/>
                        </a:rPr>
                        <a:t>Watch HR per Week</a:t>
                      </a:r>
                      <a:endParaRPr lang="en-IN" sz="1200" b="1" i="0" u="none" strike="noStrike" dirty="0">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US" sz="1200" b="1" u="none" strike="noStrike" dirty="0">
                          <a:effectLst/>
                        </a:rPr>
                        <a:t>Weekly Watching Hours = Watching hours / (Tenure Days/7) </a:t>
                      </a:r>
                      <a:endParaRPr lang="en-US" sz="1200" b="1" i="0" u="none" strike="noStrike" dirty="0">
                        <a:solidFill>
                          <a:srgbClr val="0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1921836414"/>
                  </a:ext>
                </a:extLst>
              </a:tr>
              <a:tr h="783287">
                <a:tc>
                  <a:txBody>
                    <a:bodyPr/>
                    <a:lstStyle/>
                    <a:p>
                      <a:pPr algn="ctr" fontAlgn="ctr">
                        <a:buNone/>
                      </a:pPr>
                      <a:r>
                        <a:rPr lang="en-IN" sz="1200" b="1" u="none" strike="noStrike">
                          <a:effectLst/>
                        </a:rPr>
                        <a:t>4</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a:effectLst/>
                        </a:rPr>
                        <a:t>Frequency Bucket</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US" sz="1200" b="1" u="none" strike="noStrike" dirty="0">
                          <a:effectLst/>
                        </a:rPr>
                        <a:t>We have used three type of users "Casual" who watch 0-5 hours watch time in a week, "Regular" who watch 5-15 hours watch time in a week &amp; "Power" who watch 15+ hours watch time in a week. </a:t>
                      </a:r>
                      <a:endParaRPr lang="en-US" sz="1200" b="1" i="0" u="none" strike="noStrike" dirty="0">
                        <a:solidFill>
                          <a:srgbClr val="0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3788484744"/>
                  </a:ext>
                </a:extLst>
              </a:tr>
              <a:tr h="394108">
                <a:tc>
                  <a:txBody>
                    <a:bodyPr/>
                    <a:lstStyle/>
                    <a:p>
                      <a:pPr algn="ctr" fontAlgn="ctr">
                        <a:buNone/>
                      </a:pPr>
                      <a:r>
                        <a:rPr lang="en-IN" sz="1200" b="1" u="none" strike="noStrike">
                          <a:effectLst/>
                        </a:rPr>
                        <a:t>5</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dirty="0">
                          <a:effectLst/>
                        </a:rPr>
                        <a:t>Per Day Watch Hr</a:t>
                      </a:r>
                      <a:endParaRPr lang="en-IN" sz="1200" b="1" i="0" u="none" strike="noStrike" dirty="0">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US" sz="1200" b="1" u="none" strike="noStrike" dirty="0">
                          <a:effectLst/>
                        </a:rPr>
                        <a:t>Per Day Watching Hours = Watching Hours / Total number of Movies + Total Number of Series </a:t>
                      </a:r>
                      <a:endParaRPr lang="en-US" sz="1200" b="1" i="0" u="none" strike="noStrike" dirty="0">
                        <a:solidFill>
                          <a:srgbClr val="0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866820557"/>
                  </a:ext>
                </a:extLst>
              </a:tr>
              <a:tr h="1561647">
                <a:tc>
                  <a:txBody>
                    <a:bodyPr/>
                    <a:lstStyle/>
                    <a:p>
                      <a:pPr algn="ctr" fontAlgn="ctr">
                        <a:buNone/>
                      </a:pPr>
                      <a:r>
                        <a:rPr lang="en-IN" sz="1200" b="1" u="none" strike="noStrike">
                          <a:effectLst/>
                        </a:rPr>
                        <a:t>6</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IN" sz="1200" b="1" u="none" strike="noStrike">
                          <a:effectLst/>
                        </a:rPr>
                        <a:t>BR/VW</a:t>
                      </a:r>
                      <a:endParaRPr lang="en-IN" sz="1200" b="1" i="0" u="none" strike="noStrike">
                        <a:solidFill>
                          <a:srgbClr val="000000"/>
                        </a:solidFill>
                        <a:effectLst/>
                        <a:latin typeface="Calibri" panose="020F0502020204030204" pitchFamily="34" charset="0"/>
                      </a:endParaRPr>
                    </a:p>
                  </a:txBody>
                  <a:tcPr marL="5404" marR="5404" marT="5404" marB="0" anchor="ctr"/>
                </a:tc>
                <a:tc>
                  <a:txBody>
                    <a:bodyPr/>
                    <a:lstStyle/>
                    <a:p>
                      <a:pPr algn="ctr" fontAlgn="ctr">
                        <a:buNone/>
                      </a:pPr>
                      <a:r>
                        <a:rPr lang="en-US" sz="1200" b="1" u="none" strike="noStrike" dirty="0">
                          <a:effectLst/>
                        </a:rPr>
                        <a:t>As We get per day Watch Hour, So have used a logic where if a user is having less than 9 Minutes (0.15 </a:t>
                      </a:r>
                      <a:r>
                        <a:rPr lang="en-US" sz="1200" b="1" u="none" strike="noStrike" dirty="0" err="1">
                          <a:effectLst/>
                        </a:rPr>
                        <a:t>hr</a:t>
                      </a:r>
                      <a:r>
                        <a:rPr lang="en-US" sz="1200" b="1" u="none" strike="noStrike" dirty="0">
                          <a:effectLst/>
                        </a:rPr>
                        <a:t>) watch time average We've considered it as "Browser" who just comes and check the show and goes back but don't consume the whole content, And second is the "Viewer" who is having more than 9 minutes watch time average Cause that user have spent some time in content consuming. </a:t>
                      </a:r>
                      <a:endParaRPr lang="en-US" sz="1200" b="1" i="0" u="none" strike="noStrike" dirty="0">
                        <a:solidFill>
                          <a:srgbClr val="000000"/>
                        </a:solidFill>
                        <a:effectLst/>
                        <a:latin typeface="Calibri" panose="020F0502020204030204" pitchFamily="34" charset="0"/>
                      </a:endParaRPr>
                    </a:p>
                  </a:txBody>
                  <a:tcPr marL="5404" marR="5404" marT="5404" marB="0" anchor="ctr"/>
                </a:tc>
                <a:extLst>
                  <a:ext uri="{0D108BD9-81ED-4DB2-BD59-A6C34878D82A}">
                    <a16:rowId xmlns:a16="http://schemas.microsoft.com/office/drawing/2014/main" val="2675709560"/>
                  </a:ext>
                </a:extLst>
              </a:tr>
            </a:tbl>
          </a:graphicData>
        </a:graphic>
      </p:graphicFrame>
    </p:spTree>
    <p:extLst>
      <p:ext uri="{BB962C8B-B14F-4D97-AF65-F5344CB8AC3E}">
        <p14:creationId xmlns:p14="http://schemas.microsoft.com/office/powerpoint/2010/main" val="2175763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E64D-B5F1-DC74-54E9-5B94D8FCA3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3FDF75-B171-F4A4-2F27-53016A86E883}"/>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F6568EEF-AD3C-61AD-C4E9-A741AC1EC5B9}"/>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7CF855B6-91A1-2DD8-4EB2-762F821ACBB4}"/>
              </a:ext>
            </a:extLst>
          </p:cNvPr>
          <p:cNvSpPr txBox="1"/>
          <p:nvPr/>
        </p:nvSpPr>
        <p:spPr>
          <a:xfrm>
            <a:off x="1432560" y="287238"/>
            <a:ext cx="7597450" cy="1323439"/>
          </a:xfrm>
          <a:prstGeom prst="rect">
            <a:avLst/>
          </a:prstGeom>
          <a:noFill/>
          <a:ln>
            <a:solidFill>
              <a:schemeClr val="bg1"/>
            </a:solidFill>
          </a:ln>
        </p:spPr>
        <p:txBody>
          <a:bodyPr wrap="square" rtlCol="0">
            <a:spAutoFit/>
          </a:bodyPr>
          <a:lstStyle/>
          <a:p>
            <a:pPr algn="r"/>
            <a:r>
              <a:rPr lang="en-US" sz="2000" b="1" dirty="0">
                <a:solidFill>
                  <a:srgbClr val="FFC000"/>
                </a:solidFill>
              </a:rPr>
              <a:t>1. Subscription &amp; Revenue Analysis </a:t>
            </a:r>
            <a:br>
              <a:rPr lang="en-US" sz="2000" dirty="0"/>
            </a:br>
            <a:br>
              <a:rPr lang="en-US" sz="2000" dirty="0"/>
            </a:br>
            <a:r>
              <a:rPr lang="en-US" sz="2000" b="1" dirty="0">
                <a:solidFill>
                  <a:schemeClr val="bg1"/>
                </a:solidFill>
              </a:rPr>
              <a:t>○ Monthly revenue based on different subscription plans </a:t>
            </a:r>
          </a:p>
          <a:p>
            <a:pPr algn="r"/>
            <a:r>
              <a:rPr lang="en-US" sz="2000" b="1" dirty="0">
                <a:solidFill>
                  <a:schemeClr val="bg1"/>
                </a:solidFill>
              </a:rPr>
              <a:t>○ Distribution of users across different price tiers</a:t>
            </a:r>
            <a:r>
              <a:rPr lang="en-US" sz="2000" dirty="0"/>
              <a:t> </a:t>
            </a:r>
          </a:p>
        </p:txBody>
      </p:sp>
      <p:sp>
        <p:nvSpPr>
          <p:cNvPr id="3" name="TextBox 2">
            <a:extLst>
              <a:ext uri="{FF2B5EF4-FFF2-40B4-BE49-F238E27FC236}">
                <a16:creationId xmlns:a16="http://schemas.microsoft.com/office/drawing/2014/main" id="{E2C69427-E8C8-5401-5E7D-BDD0F3C82412}"/>
              </a:ext>
            </a:extLst>
          </p:cNvPr>
          <p:cNvSpPr txBox="1"/>
          <p:nvPr/>
        </p:nvSpPr>
        <p:spPr>
          <a:xfrm>
            <a:off x="1521770" y="2458789"/>
            <a:ext cx="7347910" cy="2862322"/>
          </a:xfrm>
          <a:prstGeom prst="rect">
            <a:avLst/>
          </a:prstGeom>
          <a:noFill/>
          <a:ln>
            <a:solidFill>
              <a:schemeClr val="bg1"/>
            </a:solidFill>
          </a:ln>
        </p:spPr>
        <p:txBody>
          <a:bodyPr wrap="square" rtlCol="0">
            <a:spAutoFit/>
          </a:bodyPr>
          <a:lstStyle/>
          <a:p>
            <a:pPr algn="r"/>
            <a:r>
              <a:rPr lang="en-US" sz="2000" b="1" dirty="0">
                <a:solidFill>
                  <a:srgbClr val="FFFF00"/>
                </a:solidFill>
              </a:rPr>
              <a:t>Question :</a:t>
            </a:r>
            <a:r>
              <a:rPr lang="en-US" sz="2000" dirty="0">
                <a:solidFill>
                  <a:srgbClr val="FFFF00"/>
                </a:solidFill>
              </a:rPr>
              <a:t> How is our revenue trending over time? </a:t>
            </a:r>
            <a:br>
              <a:rPr lang="en-US" sz="2000" dirty="0">
                <a:solidFill>
                  <a:srgbClr val="FFFF00"/>
                </a:solidFill>
              </a:rPr>
            </a:br>
            <a:r>
              <a:rPr lang="en-US" sz="2000" b="1" dirty="0">
                <a:solidFill>
                  <a:srgbClr val="FFFF00"/>
                </a:solidFill>
              </a:rPr>
              <a:t>Answer :</a:t>
            </a:r>
            <a:r>
              <a:rPr lang="en-US" sz="2000" dirty="0">
                <a:solidFill>
                  <a:srgbClr val="FFFF00"/>
                </a:solidFill>
              </a:rPr>
              <a:t> Revenue is growing steadily month-over-month.</a:t>
            </a:r>
            <a:br>
              <a:rPr lang="en-US" sz="2000" dirty="0">
                <a:solidFill>
                  <a:schemeClr val="accent5">
                    <a:lumMod val="40000"/>
                    <a:lumOff val="60000"/>
                  </a:schemeClr>
                </a:solidFill>
              </a:rPr>
            </a:br>
            <a:endParaRPr lang="en-US" sz="2000" dirty="0">
              <a:solidFill>
                <a:schemeClr val="accent5">
                  <a:lumMod val="40000"/>
                  <a:lumOff val="60000"/>
                </a:schemeClr>
              </a:solidFill>
            </a:endParaRPr>
          </a:p>
          <a:p>
            <a:pPr algn="r"/>
            <a:endParaRPr lang="en-US" sz="2000" dirty="0">
              <a:solidFill>
                <a:schemeClr val="accent5">
                  <a:lumMod val="40000"/>
                  <a:lumOff val="60000"/>
                </a:schemeClr>
              </a:solidFill>
            </a:endParaRPr>
          </a:p>
          <a:p>
            <a:pPr algn="r"/>
            <a:endParaRPr lang="en-US" sz="2000" dirty="0">
              <a:solidFill>
                <a:schemeClr val="accent5">
                  <a:lumMod val="40000"/>
                  <a:lumOff val="60000"/>
                </a:schemeClr>
              </a:solidFill>
            </a:endParaRPr>
          </a:p>
          <a:p>
            <a:pPr algn="r"/>
            <a:r>
              <a:rPr lang="en-US" sz="2000" b="1" dirty="0">
                <a:solidFill>
                  <a:srgbClr val="FFFF00"/>
                </a:solidFill>
              </a:rPr>
              <a:t>Key Findings:</a:t>
            </a:r>
            <a:endParaRPr lang="en-US" sz="2000" dirty="0">
              <a:solidFill>
                <a:srgbClr val="FFFF00"/>
              </a:solidFill>
            </a:endParaRPr>
          </a:p>
          <a:p>
            <a:pPr algn="r"/>
            <a:r>
              <a:rPr lang="en-US" sz="2000" dirty="0">
                <a:solidFill>
                  <a:srgbClr val="FFFF00"/>
                </a:solidFill>
              </a:rPr>
              <a:t>1. The </a:t>
            </a:r>
            <a:r>
              <a:rPr lang="en-US" sz="2000" b="1" dirty="0">
                <a:solidFill>
                  <a:srgbClr val="FFFF00"/>
                </a:solidFill>
              </a:rPr>
              <a:t>'Standard'</a:t>
            </a:r>
            <a:r>
              <a:rPr lang="en-US" sz="2000" dirty="0">
                <a:solidFill>
                  <a:srgbClr val="FFFF00"/>
                </a:solidFill>
              </a:rPr>
              <a:t> plan is our most popular subscription tier.</a:t>
            </a:r>
          </a:p>
          <a:p>
            <a:pPr algn="r"/>
            <a:r>
              <a:rPr lang="en-US" sz="2000" dirty="0">
                <a:solidFill>
                  <a:srgbClr val="FFFF00"/>
                </a:solidFill>
              </a:rPr>
              <a:t>2. There are no major drops in revenue. </a:t>
            </a:r>
          </a:p>
          <a:p>
            <a:pPr algn="r"/>
            <a:r>
              <a:rPr lang="en-US" sz="2000" dirty="0">
                <a:solidFill>
                  <a:srgbClr val="FFFF00"/>
                </a:solidFill>
              </a:rPr>
              <a:t>3. We are consistently acquiring new users each month.</a:t>
            </a:r>
          </a:p>
        </p:txBody>
      </p:sp>
    </p:spTree>
    <p:extLst>
      <p:ext uri="{BB962C8B-B14F-4D97-AF65-F5344CB8AC3E}">
        <p14:creationId xmlns:p14="http://schemas.microsoft.com/office/powerpoint/2010/main" val="156638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8CF3-0D42-28C1-C7F5-C1B13471F5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58F1C3-E1F2-DB0D-7146-7E50D85F8AA0}"/>
              </a:ext>
            </a:extLst>
          </p:cNvPr>
          <p:cNvPicPr>
            <a:picLocks noChangeAspect="1"/>
          </p:cNvPicPr>
          <p:nvPr/>
        </p:nvPicPr>
        <p:blipFill>
          <a:blip r:embed="rId2">
            <a:alphaModFix amt="35000"/>
          </a:blip>
          <a:stretch>
            <a:fillRect/>
          </a:stretch>
        </p:blipFill>
        <p:spPr>
          <a:xfrm>
            <a:off x="-1" y="0"/>
            <a:ext cx="9131611"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Subtitle 2">
            <a:extLst>
              <a:ext uri="{FF2B5EF4-FFF2-40B4-BE49-F238E27FC236}">
                <a16:creationId xmlns:a16="http://schemas.microsoft.com/office/drawing/2014/main" id="{296C6118-96E4-B2E1-010D-B8022231F5CC}"/>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pic>
        <p:nvPicPr>
          <p:cNvPr id="7" name="Picture 6">
            <a:extLst>
              <a:ext uri="{FF2B5EF4-FFF2-40B4-BE49-F238E27FC236}">
                <a16:creationId xmlns:a16="http://schemas.microsoft.com/office/drawing/2014/main" id="{F41559DA-C152-AB04-B9DC-501247BC7A4E}"/>
              </a:ext>
            </a:extLst>
          </p:cNvPr>
          <p:cNvPicPr>
            <a:picLocks noChangeAspect="1"/>
          </p:cNvPicPr>
          <p:nvPr/>
        </p:nvPicPr>
        <p:blipFill>
          <a:blip r:embed="rId3"/>
          <a:stretch>
            <a:fillRect/>
          </a:stretch>
        </p:blipFill>
        <p:spPr>
          <a:xfrm>
            <a:off x="308967" y="547285"/>
            <a:ext cx="8526065" cy="5763429"/>
          </a:xfrm>
          <a:prstGeom prst="rect">
            <a:avLst/>
          </a:prstGeom>
        </p:spPr>
      </p:pic>
    </p:spTree>
    <p:extLst>
      <p:ext uri="{BB962C8B-B14F-4D97-AF65-F5344CB8AC3E}">
        <p14:creationId xmlns:p14="http://schemas.microsoft.com/office/powerpoint/2010/main" val="420838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B7BFE-8B74-35DC-70B0-0F2D8E60D2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E41943-9241-E4C2-E762-337BFCC1E5F8}"/>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B042CA53-1AA9-4A67-18B1-F0AA72808DB6}"/>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F3645753-0AC1-5816-42CF-62FAB9E257C1}"/>
              </a:ext>
            </a:extLst>
          </p:cNvPr>
          <p:cNvSpPr txBox="1"/>
          <p:nvPr/>
        </p:nvSpPr>
        <p:spPr>
          <a:xfrm>
            <a:off x="1432560" y="287238"/>
            <a:ext cx="7597450" cy="1600438"/>
          </a:xfrm>
          <a:prstGeom prst="rect">
            <a:avLst/>
          </a:prstGeom>
          <a:noFill/>
          <a:ln>
            <a:solidFill>
              <a:schemeClr val="bg1"/>
            </a:solidFill>
          </a:ln>
        </p:spPr>
        <p:txBody>
          <a:bodyPr wrap="square" rtlCol="0">
            <a:spAutoFit/>
          </a:bodyPr>
          <a:lstStyle/>
          <a:p>
            <a:pPr algn="r"/>
            <a:r>
              <a:rPr lang="en-US" sz="2000" b="1" dirty="0">
                <a:solidFill>
                  <a:srgbClr val="FFC000"/>
                </a:solidFill>
              </a:rPr>
              <a:t>2. User Engagement Metrics: ○ Average watch hours per user </a:t>
            </a:r>
          </a:p>
          <a:p>
            <a:pPr algn="r"/>
            <a:br>
              <a:rPr lang="en-US" sz="2000" b="1" dirty="0">
                <a:solidFill>
                  <a:srgbClr val="FFC000"/>
                </a:solidFill>
              </a:rPr>
            </a:br>
            <a:r>
              <a:rPr lang="en-US" sz="2000" b="1" dirty="0">
                <a:solidFill>
                  <a:schemeClr val="bg1"/>
                </a:solidFill>
              </a:rPr>
              <a:t>○ Total movies vs. series watched per user </a:t>
            </a:r>
          </a:p>
          <a:p>
            <a:pPr algn="r"/>
            <a:r>
              <a:rPr lang="en-US" sz="2000" b="1" dirty="0">
                <a:solidFill>
                  <a:schemeClr val="bg1"/>
                </a:solidFill>
              </a:rPr>
              <a:t>○ Impact of recommended content on engagement </a:t>
            </a:r>
          </a:p>
          <a:p>
            <a:endParaRPr lang="en-IN" dirty="0"/>
          </a:p>
        </p:txBody>
      </p:sp>
      <p:sp>
        <p:nvSpPr>
          <p:cNvPr id="3" name="TextBox 2">
            <a:extLst>
              <a:ext uri="{FF2B5EF4-FFF2-40B4-BE49-F238E27FC236}">
                <a16:creationId xmlns:a16="http://schemas.microsoft.com/office/drawing/2014/main" id="{1B954C3E-05C7-FE48-E3E0-AF7984441FF9}"/>
              </a:ext>
            </a:extLst>
          </p:cNvPr>
          <p:cNvSpPr txBox="1"/>
          <p:nvPr/>
        </p:nvSpPr>
        <p:spPr>
          <a:xfrm>
            <a:off x="1521770" y="2458789"/>
            <a:ext cx="7347910" cy="3970318"/>
          </a:xfrm>
          <a:prstGeom prst="rect">
            <a:avLst/>
          </a:prstGeom>
          <a:noFill/>
          <a:ln>
            <a:solidFill>
              <a:schemeClr val="bg1"/>
            </a:solidFill>
          </a:ln>
        </p:spPr>
        <p:txBody>
          <a:bodyPr wrap="square" rtlCol="0">
            <a:spAutoFit/>
          </a:bodyPr>
          <a:lstStyle/>
          <a:p>
            <a:pPr algn="r"/>
            <a:r>
              <a:rPr lang="en-US" b="1" dirty="0">
                <a:solidFill>
                  <a:srgbClr val="FFFF00"/>
                </a:solidFill>
              </a:rPr>
              <a:t>Question:</a:t>
            </a:r>
            <a:r>
              <a:rPr lang="en-US" dirty="0">
                <a:solidFill>
                  <a:srgbClr val="FFFF00"/>
                </a:solidFill>
              </a:rPr>
              <a:t> Who watches what content? </a:t>
            </a:r>
            <a:br>
              <a:rPr lang="en-US" dirty="0">
                <a:solidFill>
                  <a:srgbClr val="FFFF00"/>
                </a:solidFill>
              </a:rPr>
            </a:br>
            <a:r>
              <a:rPr lang="en-US" b="1" dirty="0">
                <a:solidFill>
                  <a:srgbClr val="FFFF00"/>
                </a:solidFill>
              </a:rPr>
              <a:t>Answer:</a:t>
            </a:r>
            <a:r>
              <a:rPr lang="en-US" dirty="0">
                <a:solidFill>
                  <a:srgbClr val="FFFF00"/>
                </a:solidFill>
              </a:rPr>
              <a:t> Movies are the dominant format for everyone, but Youth engagement shows interest in series as well.</a:t>
            </a:r>
            <a:br>
              <a:rPr lang="en-US" dirty="0">
                <a:solidFill>
                  <a:schemeClr val="accent5">
                    <a:lumMod val="40000"/>
                    <a:lumOff val="60000"/>
                  </a:schemeClr>
                </a:solidFill>
              </a:rPr>
            </a:br>
            <a:endParaRPr lang="en-US" dirty="0">
              <a:solidFill>
                <a:schemeClr val="accent5">
                  <a:lumMod val="40000"/>
                  <a:lumOff val="60000"/>
                </a:schemeClr>
              </a:solidFill>
            </a:endParaRPr>
          </a:p>
          <a:p>
            <a:pPr algn="r"/>
            <a:endParaRPr lang="en-US" dirty="0">
              <a:solidFill>
                <a:schemeClr val="accent5">
                  <a:lumMod val="40000"/>
                  <a:lumOff val="60000"/>
                </a:schemeClr>
              </a:solidFill>
            </a:endParaRPr>
          </a:p>
          <a:p>
            <a:pPr algn="r"/>
            <a:endParaRPr lang="en-US" dirty="0">
              <a:solidFill>
                <a:schemeClr val="accent5">
                  <a:lumMod val="40000"/>
                  <a:lumOff val="60000"/>
                </a:schemeClr>
              </a:solidFill>
            </a:endParaRPr>
          </a:p>
          <a:p>
            <a:pPr algn="r"/>
            <a:r>
              <a:rPr lang="en-US" b="1" dirty="0">
                <a:solidFill>
                  <a:srgbClr val="FFFF00"/>
                </a:solidFill>
              </a:rPr>
              <a:t>Key Findings:</a:t>
            </a:r>
            <a:endParaRPr lang="en-US" dirty="0">
              <a:solidFill>
                <a:srgbClr val="FFFF00"/>
              </a:solidFill>
            </a:endParaRPr>
          </a:p>
          <a:p>
            <a:pPr algn="r"/>
            <a:r>
              <a:rPr lang="en-US" dirty="0">
                <a:solidFill>
                  <a:srgbClr val="FFFF00"/>
                </a:solidFill>
              </a:rPr>
              <a:t>1. Across </a:t>
            </a:r>
            <a:r>
              <a:rPr lang="en-US" b="1" dirty="0">
                <a:solidFill>
                  <a:srgbClr val="FFFF00"/>
                </a:solidFill>
              </a:rPr>
              <a:t>all</a:t>
            </a:r>
            <a:r>
              <a:rPr lang="en-US" dirty="0">
                <a:solidFill>
                  <a:srgbClr val="FFFF00"/>
                </a:solidFill>
              </a:rPr>
              <a:t> age groups, </a:t>
            </a:r>
            <a:r>
              <a:rPr lang="en-US" b="1" dirty="0">
                <a:solidFill>
                  <a:srgbClr val="FFFF00"/>
                </a:solidFill>
              </a:rPr>
              <a:t>Movies</a:t>
            </a:r>
            <a:r>
              <a:rPr lang="en-US" dirty="0">
                <a:solidFill>
                  <a:srgbClr val="FFFF00"/>
                </a:solidFill>
              </a:rPr>
              <a:t> are watched 5x more often than Series.</a:t>
            </a:r>
          </a:p>
          <a:p>
            <a:pPr algn="r"/>
            <a:r>
              <a:rPr lang="en-US" dirty="0">
                <a:solidFill>
                  <a:srgbClr val="FFFF00"/>
                </a:solidFill>
              </a:rPr>
              <a:t>2. While Movies lead everywhere, the </a:t>
            </a:r>
            <a:r>
              <a:rPr lang="en-US" b="1" dirty="0">
                <a:solidFill>
                  <a:srgbClr val="FFFF00"/>
                </a:solidFill>
              </a:rPr>
              <a:t>18-24 Age Group</a:t>
            </a:r>
            <a:r>
              <a:rPr lang="en-US" dirty="0">
                <a:solidFill>
                  <a:srgbClr val="FFFF00"/>
                </a:solidFill>
              </a:rPr>
              <a:t> consumes the highest volume of Series (Avg. 110 titles) compared to the 55+ group (Avg. 92 titles). </a:t>
            </a:r>
          </a:p>
          <a:p>
            <a:pPr algn="r"/>
            <a:r>
              <a:rPr lang="en-US" dirty="0">
                <a:solidFill>
                  <a:srgbClr val="FFFF00"/>
                </a:solidFill>
              </a:rPr>
              <a:t>3. Our core library must remain </a:t>
            </a:r>
            <a:r>
              <a:rPr lang="en-US" b="1" dirty="0">
                <a:solidFill>
                  <a:srgbClr val="FFFF00"/>
                </a:solidFill>
              </a:rPr>
              <a:t>Movie-focused</a:t>
            </a:r>
            <a:r>
              <a:rPr lang="en-US" dirty="0">
                <a:solidFill>
                  <a:srgbClr val="FFFF00"/>
                </a:solidFill>
              </a:rPr>
              <a:t> to satisfy the base, but Series acquisitions should specifically target </a:t>
            </a:r>
            <a:r>
              <a:rPr lang="en-US" b="1" dirty="0">
                <a:solidFill>
                  <a:srgbClr val="FFFF00"/>
                </a:solidFill>
              </a:rPr>
              <a:t>Younger demographics</a:t>
            </a:r>
            <a:r>
              <a:rPr lang="en-US" dirty="0">
                <a:solidFill>
                  <a:srgbClr val="FFFF00"/>
                </a:solidFill>
              </a:rPr>
              <a:t> where adoption is highest.</a:t>
            </a:r>
          </a:p>
        </p:txBody>
      </p:sp>
    </p:spTree>
    <p:extLst>
      <p:ext uri="{BB962C8B-B14F-4D97-AF65-F5344CB8AC3E}">
        <p14:creationId xmlns:p14="http://schemas.microsoft.com/office/powerpoint/2010/main" val="396432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4AD2-B0E0-84AA-B8F9-6A3206B3FB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113003-7E0B-373C-487E-72563C9852C9}"/>
              </a:ext>
            </a:extLst>
          </p:cNvPr>
          <p:cNvPicPr>
            <a:picLocks noChangeAspect="1"/>
          </p:cNvPicPr>
          <p:nvPr/>
        </p:nvPicPr>
        <p:blipFill>
          <a:blip r:embed="rId2">
            <a:alphaModFix amt="35000"/>
          </a:blip>
          <a:stretch>
            <a:fillRect/>
          </a:stretch>
        </p:blipFill>
        <p:spPr>
          <a:xfrm>
            <a:off x="-1" y="0"/>
            <a:ext cx="9131611"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Subtitle 2">
            <a:extLst>
              <a:ext uri="{FF2B5EF4-FFF2-40B4-BE49-F238E27FC236}">
                <a16:creationId xmlns:a16="http://schemas.microsoft.com/office/drawing/2014/main" id="{FB6F9D12-D614-575F-61A5-D4185D6E58E7}"/>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pic>
        <p:nvPicPr>
          <p:cNvPr id="7" name="Picture 6">
            <a:extLst>
              <a:ext uri="{FF2B5EF4-FFF2-40B4-BE49-F238E27FC236}">
                <a16:creationId xmlns:a16="http://schemas.microsoft.com/office/drawing/2014/main" id="{1E639CB9-28C6-6A39-85E6-D43F26F4EB2E}"/>
              </a:ext>
            </a:extLst>
          </p:cNvPr>
          <p:cNvPicPr>
            <a:picLocks noChangeAspect="1"/>
          </p:cNvPicPr>
          <p:nvPr/>
        </p:nvPicPr>
        <p:blipFill>
          <a:blip r:embed="rId3"/>
          <a:stretch>
            <a:fillRect/>
          </a:stretch>
        </p:blipFill>
        <p:spPr>
          <a:xfrm>
            <a:off x="217967" y="995728"/>
            <a:ext cx="8708065" cy="4866543"/>
          </a:xfrm>
          <a:prstGeom prst="rect">
            <a:avLst/>
          </a:prstGeom>
        </p:spPr>
      </p:pic>
    </p:spTree>
    <p:extLst>
      <p:ext uri="{BB962C8B-B14F-4D97-AF65-F5344CB8AC3E}">
        <p14:creationId xmlns:p14="http://schemas.microsoft.com/office/powerpoint/2010/main" val="2671786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DBEE-3DC1-464A-BEBA-3EF15B6806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16278C1-8944-0ED0-25E2-8009347BE078}"/>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0DE5E967-A225-4709-7909-78D69D2D235B}"/>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D3ADC181-65A4-7AB0-124B-F53204078C6F}"/>
              </a:ext>
            </a:extLst>
          </p:cNvPr>
          <p:cNvSpPr txBox="1"/>
          <p:nvPr/>
        </p:nvSpPr>
        <p:spPr>
          <a:xfrm>
            <a:off x="1432560" y="287238"/>
            <a:ext cx="7597450" cy="1477328"/>
          </a:xfrm>
          <a:prstGeom prst="rect">
            <a:avLst/>
          </a:prstGeom>
          <a:noFill/>
          <a:ln>
            <a:solidFill>
              <a:schemeClr val="bg1"/>
            </a:solidFill>
          </a:ln>
        </p:spPr>
        <p:txBody>
          <a:bodyPr wrap="square" rtlCol="0">
            <a:spAutoFit/>
          </a:bodyPr>
          <a:lstStyle/>
          <a:p>
            <a:pPr algn="r"/>
            <a:r>
              <a:rPr lang="en-US" b="1" dirty="0">
                <a:solidFill>
                  <a:srgbClr val="FFC000"/>
                </a:solidFill>
              </a:rPr>
              <a:t>3. Demographic &amp; Behavioral Insights: ○ Preferred genres by age group. </a:t>
            </a:r>
          </a:p>
          <a:p>
            <a:pPr algn="r"/>
            <a:endParaRPr lang="en-IN" dirty="0"/>
          </a:p>
          <a:p>
            <a:pPr algn="r"/>
            <a:r>
              <a:rPr lang="en-IN" b="1" dirty="0">
                <a:solidFill>
                  <a:schemeClr val="bg1"/>
                </a:solidFill>
              </a:rPr>
              <a:t>○ Preferred Genres by Age Group &amp; Device usage trends </a:t>
            </a:r>
          </a:p>
          <a:p>
            <a:pPr algn="r"/>
            <a:r>
              <a:rPr lang="en-US" b="1" dirty="0">
                <a:solidFill>
                  <a:schemeClr val="bg1"/>
                </a:solidFill>
              </a:rPr>
              <a:t>○ Peak watch time trends (Morning, Evening, Late Night) </a:t>
            </a:r>
          </a:p>
          <a:p>
            <a:pPr algn="r"/>
            <a:endParaRPr lang="en-IN" dirty="0"/>
          </a:p>
        </p:txBody>
      </p:sp>
      <p:sp>
        <p:nvSpPr>
          <p:cNvPr id="3" name="TextBox 2">
            <a:extLst>
              <a:ext uri="{FF2B5EF4-FFF2-40B4-BE49-F238E27FC236}">
                <a16:creationId xmlns:a16="http://schemas.microsoft.com/office/drawing/2014/main" id="{A1FC465C-16F4-457D-FEB3-0AE9F4731DDE}"/>
              </a:ext>
            </a:extLst>
          </p:cNvPr>
          <p:cNvSpPr txBox="1"/>
          <p:nvPr/>
        </p:nvSpPr>
        <p:spPr>
          <a:xfrm>
            <a:off x="1521770" y="2458789"/>
            <a:ext cx="7347910" cy="2554545"/>
          </a:xfrm>
          <a:prstGeom prst="rect">
            <a:avLst/>
          </a:prstGeom>
          <a:noFill/>
          <a:ln>
            <a:solidFill>
              <a:schemeClr val="bg1"/>
            </a:solidFill>
          </a:ln>
        </p:spPr>
        <p:txBody>
          <a:bodyPr wrap="square" rtlCol="0">
            <a:spAutoFit/>
          </a:bodyPr>
          <a:lstStyle/>
          <a:p>
            <a:pPr algn="r"/>
            <a:r>
              <a:rPr lang="en-US" sz="2000" b="1" dirty="0">
                <a:solidFill>
                  <a:srgbClr val="FFFF00"/>
                </a:solidFill>
              </a:rPr>
              <a:t>Question</a:t>
            </a:r>
            <a:r>
              <a:rPr lang="en-US" sz="2000" dirty="0">
                <a:solidFill>
                  <a:srgbClr val="FFFF00"/>
                </a:solidFill>
              </a:rPr>
              <a:t>: When and how do they watch? </a:t>
            </a:r>
          </a:p>
          <a:p>
            <a:pPr algn="r"/>
            <a:r>
              <a:rPr lang="en-US" sz="2000" b="1" dirty="0">
                <a:solidFill>
                  <a:srgbClr val="FFFF00"/>
                </a:solidFill>
              </a:rPr>
              <a:t>Answer</a:t>
            </a:r>
            <a:r>
              <a:rPr lang="en-US" sz="2000" dirty="0">
                <a:solidFill>
                  <a:srgbClr val="FFFF00"/>
                </a:solidFill>
              </a:rPr>
              <a:t>: Evening is the prime time for streaming</a:t>
            </a:r>
          </a:p>
          <a:p>
            <a:pPr algn="r"/>
            <a:endParaRPr lang="en-US" sz="2000" dirty="0">
              <a:solidFill>
                <a:srgbClr val="FFFF00"/>
              </a:solidFill>
            </a:endParaRPr>
          </a:p>
          <a:p>
            <a:pPr algn="r"/>
            <a:r>
              <a:rPr lang="en-US" sz="2000" b="1" dirty="0">
                <a:solidFill>
                  <a:srgbClr val="FFFF00"/>
                </a:solidFill>
              </a:rPr>
              <a:t>Key Findings:</a:t>
            </a:r>
            <a:endParaRPr lang="en-US" sz="2000" dirty="0">
              <a:solidFill>
                <a:srgbClr val="FFFF00"/>
              </a:solidFill>
            </a:endParaRPr>
          </a:p>
          <a:p>
            <a:pPr algn="r"/>
            <a:r>
              <a:rPr lang="en-US" sz="2000" dirty="0">
                <a:solidFill>
                  <a:srgbClr val="FFFF00"/>
                </a:solidFill>
              </a:rPr>
              <a:t>1. The majority of users log in during Evening hours.</a:t>
            </a:r>
          </a:p>
          <a:p>
            <a:pPr algn="r"/>
            <a:r>
              <a:rPr lang="en-US" sz="2000" dirty="0">
                <a:solidFill>
                  <a:srgbClr val="FFFF00"/>
                </a:solidFill>
              </a:rPr>
              <a:t>2. Sci-Fi and Drama are the top-performing genres overall.</a:t>
            </a:r>
          </a:p>
          <a:p>
            <a:pPr algn="r"/>
            <a:r>
              <a:rPr lang="en-US" sz="2000" dirty="0">
                <a:solidFill>
                  <a:srgbClr val="FFFF00"/>
                </a:solidFill>
              </a:rPr>
              <a:t>3. Device usage varies by age: Younger users are on Smartphones, while families/older users prefer Smart TVs.</a:t>
            </a:r>
          </a:p>
        </p:txBody>
      </p:sp>
    </p:spTree>
    <p:extLst>
      <p:ext uri="{BB962C8B-B14F-4D97-AF65-F5344CB8AC3E}">
        <p14:creationId xmlns:p14="http://schemas.microsoft.com/office/powerpoint/2010/main" val="1730269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46E06-0DB1-5F3F-C847-A4092F6AAB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9B7026-90AF-3B03-A246-8457BB8EFADF}"/>
              </a:ext>
            </a:extLst>
          </p:cNvPr>
          <p:cNvPicPr>
            <a:picLocks noChangeAspect="1"/>
          </p:cNvPicPr>
          <p:nvPr/>
        </p:nvPicPr>
        <p:blipFill>
          <a:blip r:embed="rId2">
            <a:alphaModFix amt="35000"/>
          </a:blip>
          <a:stretch>
            <a:fillRect/>
          </a:stretch>
        </p:blipFill>
        <p:spPr>
          <a:xfrm>
            <a:off x="-1" y="0"/>
            <a:ext cx="9131611"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Subtitle 2">
            <a:extLst>
              <a:ext uri="{FF2B5EF4-FFF2-40B4-BE49-F238E27FC236}">
                <a16:creationId xmlns:a16="http://schemas.microsoft.com/office/drawing/2014/main" id="{7F0E0734-DB5D-19B9-5C12-0806EDEEEDB4}"/>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pic>
        <p:nvPicPr>
          <p:cNvPr id="7" name="Picture 6">
            <a:extLst>
              <a:ext uri="{FF2B5EF4-FFF2-40B4-BE49-F238E27FC236}">
                <a16:creationId xmlns:a16="http://schemas.microsoft.com/office/drawing/2014/main" id="{4F7773DF-E888-09BD-3326-F6DB6B682A62}"/>
              </a:ext>
            </a:extLst>
          </p:cNvPr>
          <p:cNvPicPr>
            <a:picLocks noChangeAspect="1"/>
          </p:cNvPicPr>
          <p:nvPr/>
        </p:nvPicPr>
        <p:blipFill>
          <a:blip r:embed="rId3"/>
          <a:stretch>
            <a:fillRect/>
          </a:stretch>
        </p:blipFill>
        <p:spPr>
          <a:xfrm>
            <a:off x="269240" y="831760"/>
            <a:ext cx="8605520" cy="5194480"/>
          </a:xfrm>
          <a:prstGeom prst="rect">
            <a:avLst/>
          </a:prstGeom>
        </p:spPr>
      </p:pic>
    </p:spTree>
    <p:extLst>
      <p:ext uri="{BB962C8B-B14F-4D97-AF65-F5344CB8AC3E}">
        <p14:creationId xmlns:p14="http://schemas.microsoft.com/office/powerpoint/2010/main" val="2757225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71D29-BD9F-885B-C31B-D1A0C3D9D8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4BF470-CBCC-26D8-41AE-045056B79AD1}"/>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62D19A96-B618-E9F0-F0B0-DFEEDA1CE883}"/>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F694A039-6692-E8EE-ABE9-AA53D72345FD}"/>
              </a:ext>
            </a:extLst>
          </p:cNvPr>
          <p:cNvSpPr txBox="1"/>
          <p:nvPr/>
        </p:nvSpPr>
        <p:spPr>
          <a:xfrm>
            <a:off x="1432560" y="287238"/>
            <a:ext cx="7597450" cy="1477328"/>
          </a:xfrm>
          <a:prstGeom prst="rect">
            <a:avLst/>
          </a:prstGeom>
          <a:noFill/>
          <a:ln>
            <a:solidFill>
              <a:schemeClr val="bg1"/>
            </a:solidFill>
          </a:ln>
        </p:spPr>
        <p:txBody>
          <a:bodyPr wrap="square" rtlCol="0">
            <a:spAutoFit/>
          </a:bodyPr>
          <a:lstStyle/>
          <a:p>
            <a:pPr algn="r"/>
            <a:r>
              <a:rPr lang="en-US" b="1" dirty="0">
                <a:solidFill>
                  <a:srgbClr val="FFC000"/>
                </a:solidFill>
              </a:rPr>
              <a:t>4. Retention &amp; Loyalty:</a:t>
            </a:r>
          </a:p>
          <a:p>
            <a:pPr algn="r"/>
            <a:endParaRPr lang="en-US" b="1" dirty="0">
              <a:solidFill>
                <a:srgbClr val="FFC000"/>
              </a:solidFill>
            </a:endParaRPr>
          </a:p>
          <a:p>
            <a:pPr algn="r"/>
            <a:r>
              <a:rPr lang="en-US" b="1" dirty="0">
                <a:solidFill>
                  <a:schemeClr val="bg1"/>
                </a:solidFill>
              </a:rPr>
              <a:t>○ Membership status (Active vs. Inactive)</a:t>
            </a:r>
          </a:p>
          <a:p>
            <a:pPr algn="r"/>
            <a:r>
              <a:rPr lang="en-US" b="1" dirty="0">
                <a:solidFill>
                  <a:schemeClr val="bg1"/>
                </a:solidFill>
              </a:rPr>
              <a:t>○ Loyalty points distribution</a:t>
            </a:r>
          </a:p>
          <a:p>
            <a:pPr algn="r"/>
            <a:r>
              <a:rPr lang="en-US" b="1" dirty="0">
                <a:solidFill>
                  <a:schemeClr val="bg1"/>
                </a:solidFill>
              </a:rPr>
              <a:t>○ Frequency of logins and content downloads</a:t>
            </a:r>
            <a:endParaRPr lang="en-IN" dirty="0">
              <a:solidFill>
                <a:schemeClr val="bg1"/>
              </a:solidFill>
            </a:endParaRPr>
          </a:p>
        </p:txBody>
      </p:sp>
      <p:sp>
        <p:nvSpPr>
          <p:cNvPr id="3" name="TextBox 2">
            <a:extLst>
              <a:ext uri="{FF2B5EF4-FFF2-40B4-BE49-F238E27FC236}">
                <a16:creationId xmlns:a16="http://schemas.microsoft.com/office/drawing/2014/main" id="{6478E3E9-6F1B-FD34-8C4E-5A720A3B5A32}"/>
              </a:ext>
            </a:extLst>
          </p:cNvPr>
          <p:cNvSpPr txBox="1"/>
          <p:nvPr/>
        </p:nvSpPr>
        <p:spPr>
          <a:xfrm>
            <a:off x="1521770" y="2458789"/>
            <a:ext cx="7347910" cy="3477875"/>
          </a:xfrm>
          <a:prstGeom prst="rect">
            <a:avLst/>
          </a:prstGeom>
          <a:noFill/>
          <a:ln>
            <a:solidFill>
              <a:schemeClr val="bg1"/>
            </a:solidFill>
          </a:ln>
        </p:spPr>
        <p:txBody>
          <a:bodyPr wrap="square" rtlCol="0">
            <a:spAutoFit/>
          </a:bodyPr>
          <a:lstStyle/>
          <a:p>
            <a:pPr algn="r"/>
            <a:r>
              <a:rPr lang="en-US" sz="2000" b="1" dirty="0">
                <a:solidFill>
                  <a:srgbClr val="FFFF00"/>
                </a:solidFill>
              </a:rPr>
              <a:t>Question </a:t>
            </a:r>
            <a:r>
              <a:rPr lang="en-US" sz="2000" dirty="0">
                <a:solidFill>
                  <a:srgbClr val="FFFF00"/>
                </a:solidFill>
              </a:rPr>
              <a:t>: Who are our most loyal users? </a:t>
            </a:r>
          </a:p>
          <a:p>
            <a:pPr algn="r"/>
            <a:r>
              <a:rPr lang="en-US" sz="2000" b="1" dirty="0">
                <a:solidFill>
                  <a:srgbClr val="FFFF00"/>
                </a:solidFill>
              </a:rPr>
              <a:t>Answer </a:t>
            </a:r>
            <a:r>
              <a:rPr lang="en-US" sz="2000" dirty="0">
                <a:solidFill>
                  <a:srgbClr val="FFFF00"/>
                </a:solidFill>
              </a:rPr>
              <a:t>: Users who 'Download' content stay longer.</a:t>
            </a:r>
          </a:p>
          <a:p>
            <a:pPr algn="r"/>
            <a:endParaRPr lang="en-US" sz="2000" dirty="0">
              <a:solidFill>
                <a:srgbClr val="FFFF00"/>
              </a:solidFill>
            </a:endParaRPr>
          </a:p>
          <a:p>
            <a:pPr algn="r"/>
            <a:r>
              <a:rPr lang="en-US" sz="2000" b="1" dirty="0">
                <a:solidFill>
                  <a:srgbClr val="FFFF00"/>
                </a:solidFill>
              </a:rPr>
              <a:t>Key Findings:</a:t>
            </a:r>
          </a:p>
          <a:p>
            <a:pPr algn="r"/>
            <a:r>
              <a:rPr lang="en-US" sz="2000" dirty="0">
                <a:solidFill>
                  <a:srgbClr val="FFFF00"/>
                </a:solidFill>
              </a:rPr>
              <a:t>1. Users in the </a:t>
            </a:r>
            <a:r>
              <a:rPr lang="en-US" sz="2000" b="1" dirty="0">
                <a:solidFill>
                  <a:srgbClr val="FFFF00"/>
                </a:solidFill>
              </a:rPr>
              <a:t>'Power'</a:t>
            </a:r>
            <a:r>
              <a:rPr lang="en-US" sz="2000" dirty="0">
                <a:solidFill>
                  <a:srgbClr val="FFFF00"/>
                </a:solidFill>
              </a:rPr>
              <a:t> frequency bucket have a </a:t>
            </a:r>
            <a:r>
              <a:rPr lang="en-US" sz="2000" b="1" dirty="0">
                <a:solidFill>
                  <a:srgbClr val="FFFF00"/>
                </a:solidFill>
              </a:rPr>
              <a:t>55% adoption rate </a:t>
            </a:r>
            <a:r>
              <a:rPr lang="en-US" sz="2000" dirty="0">
                <a:solidFill>
                  <a:srgbClr val="FFFF00"/>
                </a:solidFill>
              </a:rPr>
              <a:t>for </a:t>
            </a:r>
            <a:r>
              <a:rPr lang="en-US" sz="2000" b="1" dirty="0">
                <a:solidFill>
                  <a:srgbClr val="FFFF00"/>
                </a:solidFill>
              </a:rPr>
              <a:t>Downloads</a:t>
            </a:r>
            <a:r>
              <a:rPr lang="en-US" sz="2000" dirty="0">
                <a:solidFill>
                  <a:srgbClr val="FFFF00"/>
                </a:solidFill>
              </a:rPr>
              <a:t>, compared to only </a:t>
            </a:r>
            <a:r>
              <a:rPr lang="en-US" sz="2000" b="1" dirty="0">
                <a:solidFill>
                  <a:srgbClr val="FFFF00"/>
                </a:solidFill>
              </a:rPr>
              <a:t>46% for Casual users.</a:t>
            </a:r>
          </a:p>
          <a:p>
            <a:pPr algn="r"/>
            <a:r>
              <a:rPr lang="en-US" sz="2000" dirty="0">
                <a:solidFill>
                  <a:srgbClr val="FFFF00"/>
                </a:solidFill>
              </a:rPr>
              <a:t>2. The </a:t>
            </a:r>
            <a:r>
              <a:rPr lang="en-US" sz="2000" b="1" dirty="0">
                <a:solidFill>
                  <a:srgbClr val="FFFF00"/>
                </a:solidFill>
              </a:rPr>
              <a:t>"Download" </a:t>
            </a:r>
            <a:r>
              <a:rPr lang="en-US" sz="2000" dirty="0">
                <a:solidFill>
                  <a:srgbClr val="FFFF00"/>
                </a:solidFill>
              </a:rPr>
              <a:t>feature is a strong </a:t>
            </a:r>
            <a:r>
              <a:rPr lang="en-US" sz="2000" b="1" dirty="0">
                <a:solidFill>
                  <a:srgbClr val="FFFF00"/>
                </a:solidFill>
              </a:rPr>
              <a:t>indicator of commitment; </a:t>
            </a:r>
            <a:r>
              <a:rPr lang="en-US" sz="2000" dirty="0">
                <a:solidFill>
                  <a:srgbClr val="FFFF00"/>
                </a:solidFill>
              </a:rPr>
              <a:t>users who take </a:t>
            </a:r>
            <a:r>
              <a:rPr lang="en-US" sz="2000" b="1" dirty="0">
                <a:solidFill>
                  <a:srgbClr val="FFFF00"/>
                </a:solidFill>
              </a:rPr>
              <a:t>content offline </a:t>
            </a:r>
            <a:r>
              <a:rPr lang="en-US" sz="2000" dirty="0">
                <a:solidFill>
                  <a:srgbClr val="FFFF00"/>
                </a:solidFill>
              </a:rPr>
              <a:t>are more </a:t>
            </a:r>
            <a:r>
              <a:rPr lang="en-US" sz="2000" b="1" dirty="0">
                <a:solidFill>
                  <a:srgbClr val="FFFF00"/>
                </a:solidFill>
              </a:rPr>
              <a:t>invested in the ecosystem.</a:t>
            </a:r>
          </a:p>
          <a:p>
            <a:pPr algn="r"/>
            <a:r>
              <a:rPr lang="en-US" sz="2000" dirty="0">
                <a:solidFill>
                  <a:srgbClr val="FFFF00"/>
                </a:solidFill>
              </a:rPr>
              <a:t>3. </a:t>
            </a:r>
            <a:r>
              <a:rPr lang="en-US" sz="2000" b="1" dirty="0">
                <a:solidFill>
                  <a:srgbClr val="FFFF00"/>
                </a:solidFill>
              </a:rPr>
              <a:t>Marketing the "Download for Offline" </a:t>
            </a:r>
            <a:r>
              <a:rPr lang="en-US" sz="2000" dirty="0">
                <a:solidFill>
                  <a:srgbClr val="FFFF00"/>
                </a:solidFill>
              </a:rPr>
              <a:t>feature to </a:t>
            </a:r>
            <a:r>
              <a:rPr lang="en-US" sz="2000" b="1" dirty="0">
                <a:solidFill>
                  <a:srgbClr val="FFFF00"/>
                </a:solidFill>
              </a:rPr>
              <a:t>Casual users </a:t>
            </a:r>
            <a:r>
              <a:rPr lang="en-US" sz="2000" dirty="0">
                <a:solidFill>
                  <a:srgbClr val="FFFF00"/>
                </a:solidFill>
              </a:rPr>
              <a:t>could be </a:t>
            </a:r>
            <a:r>
              <a:rPr lang="en-US" sz="2000" b="1" dirty="0">
                <a:solidFill>
                  <a:srgbClr val="FFFF00"/>
                </a:solidFill>
              </a:rPr>
              <a:t>a strategic hook </a:t>
            </a:r>
            <a:r>
              <a:rPr lang="en-US" sz="2000" dirty="0">
                <a:solidFill>
                  <a:srgbClr val="FFFF00"/>
                </a:solidFill>
              </a:rPr>
              <a:t>to increase their </a:t>
            </a:r>
            <a:r>
              <a:rPr lang="en-US" sz="2000" b="1" dirty="0">
                <a:solidFill>
                  <a:srgbClr val="FFFF00"/>
                </a:solidFill>
              </a:rPr>
              <a:t>watch time </a:t>
            </a:r>
            <a:r>
              <a:rPr lang="en-US" sz="2000" dirty="0">
                <a:solidFill>
                  <a:srgbClr val="FFFF00"/>
                </a:solidFill>
              </a:rPr>
              <a:t>and </a:t>
            </a:r>
            <a:r>
              <a:rPr lang="en-US" sz="2000" b="1" dirty="0">
                <a:solidFill>
                  <a:srgbClr val="FFFF00"/>
                </a:solidFill>
              </a:rPr>
              <a:t>move them </a:t>
            </a:r>
            <a:r>
              <a:rPr lang="en-US" sz="2000" dirty="0">
                <a:solidFill>
                  <a:srgbClr val="FFFF00"/>
                </a:solidFill>
              </a:rPr>
              <a:t>into the </a:t>
            </a:r>
            <a:r>
              <a:rPr lang="en-US" sz="2000" b="1" dirty="0">
                <a:solidFill>
                  <a:srgbClr val="FFFF00"/>
                </a:solidFill>
              </a:rPr>
              <a:t>'Regular' </a:t>
            </a:r>
            <a:r>
              <a:rPr lang="en-US" sz="2000" dirty="0">
                <a:solidFill>
                  <a:srgbClr val="FFFF00"/>
                </a:solidFill>
              </a:rPr>
              <a:t>or </a:t>
            </a:r>
            <a:r>
              <a:rPr lang="en-US" sz="2000" b="1" dirty="0">
                <a:solidFill>
                  <a:srgbClr val="FFFF00"/>
                </a:solidFill>
              </a:rPr>
              <a:t>'Power' </a:t>
            </a:r>
            <a:r>
              <a:rPr lang="en-US" sz="2000" dirty="0">
                <a:solidFill>
                  <a:srgbClr val="FFFF00"/>
                </a:solidFill>
              </a:rPr>
              <a:t>tier.</a:t>
            </a:r>
          </a:p>
        </p:txBody>
      </p:sp>
    </p:spTree>
    <p:extLst>
      <p:ext uri="{BB962C8B-B14F-4D97-AF65-F5344CB8AC3E}">
        <p14:creationId xmlns:p14="http://schemas.microsoft.com/office/powerpoint/2010/main" val="1219856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41D8-2538-567F-8A4D-CA239AC7D0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0A6A64-376F-2EBF-C508-4EFD122D03DB}"/>
              </a:ext>
            </a:extLst>
          </p:cNvPr>
          <p:cNvPicPr>
            <a:picLocks noChangeAspect="1"/>
          </p:cNvPicPr>
          <p:nvPr/>
        </p:nvPicPr>
        <p:blipFill>
          <a:blip r:embed="rId2">
            <a:alphaModFix amt="35000"/>
          </a:blip>
          <a:stretch>
            <a:fillRect/>
          </a:stretch>
        </p:blipFill>
        <p:spPr>
          <a:xfrm>
            <a:off x="-1" y="0"/>
            <a:ext cx="9131611"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Subtitle 2">
            <a:extLst>
              <a:ext uri="{FF2B5EF4-FFF2-40B4-BE49-F238E27FC236}">
                <a16:creationId xmlns:a16="http://schemas.microsoft.com/office/drawing/2014/main" id="{C182D72A-64BF-8ED6-3732-068D8C492003}"/>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pic>
        <p:nvPicPr>
          <p:cNvPr id="3" name="Picture 2">
            <a:extLst>
              <a:ext uri="{FF2B5EF4-FFF2-40B4-BE49-F238E27FC236}">
                <a16:creationId xmlns:a16="http://schemas.microsoft.com/office/drawing/2014/main" id="{688BADCA-CD3A-AFA1-00FD-51FA8D2D7DF6}"/>
              </a:ext>
            </a:extLst>
          </p:cNvPr>
          <p:cNvPicPr>
            <a:picLocks noChangeAspect="1"/>
          </p:cNvPicPr>
          <p:nvPr/>
        </p:nvPicPr>
        <p:blipFill>
          <a:blip r:embed="rId3"/>
          <a:stretch>
            <a:fillRect/>
          </a:stretch>
        </p:blipFill>
        <p:spPr>
          <a:xfrm>
            <a:off x="407675" y="672021"/>
            <a:ext cx="8328649" cy="5513957"/>
          </a:xfrm>
          <a:prstGeom prst="rect">
            <a:avLst/>
          </a:prstGeom>
        </p:spPr>
      </p:pic>
    </p:spTree>
    <p:extLst>
      <p:ext uri="{BB962C8B-B14F-4D97-AF65-F5344CB8AC3E}">
        <p14:creationId xmlns:p14="http://schemas.microsoft.com/office/powerpoint/2010/main" val="1310403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D3048-2629-1C5F-415E-345DC9D9F6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1BA297-9F60-1D01-3211-3D7BEB67AFDE}"/>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B251EA01-3518-FBAC-2D08-9A4648165319}"/>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10" name="TextBox 9">
            <a:extLst>
              <a:ext uri="{FF2B5EF4-FFF2-40B4-BE49-F238E27FC236}">
                <a16:creationId xmlns:a16="http://schemas.microsoft.com/office/drawing/2014/main" id="{7812A6E4-617C-C34C-6216-75E43BC132A5}"/>
              </a:ext>
            </a:extLst>
          </p:cNvPr>
          <p:cNvSpPr txBox="1"/>
          <p:nvPr/>
        </p:nvSpPr>
        <p:spPr>
          <a:xfrm>
            <a:off x="1432560" y="287238"/>
            <a:ext cx="7597450" cy="1477328"/>
          </a:xfrm>
          <a:prstGeom prst="rect">
            <a:avLst/>
          </a:prstGeom>
          <a:noFill/>
          <a:ln>
            <a:solidFill>
              <a:schemeClr val="bg1"/>
            </a:solidFill>
          </a:ln>
        </p:spPr>
        <p:txBody>
          <a:bodyPr wrap="square" rtlCol="0">
            <a:spAutoFit/>
          </a:bodyPr>
          <a:lstStyle/>
          <a:p>
            <a:pPr algn="r"/>
            <a:r>
              <a:rPr lang="en-US" b="1" dirty="0">
                <a:solidFill>
                  <a:srgbClr val="FFC000"/>
                </a:solidFill>
              </a:rPr>
              <a:t>5. Payment Preferences &amp; Regional Trends:</a:t>
            </a:r>
          </a:p>
          <a:p>
            <a:pPr algn="r"/>
            <a:endParaRPr lang="en-US" b="1" dirty="0">
              <a:solidFill>
                <a:srgbClr val="FFC000"/>
              </a:solidFill>
            </a:endParaRPr>
          </a:p>
          <a:p>
            <a:pPr algn="r"/>
            <a:r>
              <a:rPr lang="en-US" b="1" dirty="0">
                <a:solidFill>
                  <a:schemeClr val="bg1"/>
                </a:solidFill>
              </a:rPr>
              <a:t>○ Preferred payment methods by region</a:t>
            </a:r>
          </a:p>
          <a:p>
            <a:pPr algn="r"/>
            <a:r>
              <a:rPr lang="en-US" b="1" dirty="0">
                <a:solidFill>
                  <a:schemeClr val="bg1"/>
                </a:solidFill>
              </a:rPr>
              <a:t>○ Subscription trends by country</a:t>
            </a:r>
          </a:p>
          <a:p>
            <a:pPr algn="r"/>
            <a:r>
              <a:rPr lang="en-US" b="1" dirty="0">
                <a:solidFill>
                  <a:schemeClr val="bg1"/>
                </a:solidFill>
              </a:rPr>
              <a:t>○ Language preferences and their correlation with engagement</a:t>
            </a:r>
            <a:endParaRPr lang="en-IN" dirty="0">
              <a:solidFill>
                <a:schemeClr val="bg1"/>
              </a:solidFill>
            </a:endParaRPr>
          </a:p>
        </p:txBody>
      </p:sp>
      <p:sp>
        <p:nvSpPr>
          <p:cNvPr id="3" name="TextBox 2">
            <a:extLst>
              <a:ext uri="{FF2B5EF4-FFF2-40B4-BE49-F238E27FC236}">
                <a16:creationId xmlns:a16="http://schemas.microsoft.com/office/drawing/2014/main" id="{4F1BF274-DE86-E67D-34E1-22CBC43EB7D2}"/>
              </a:ext>
            </a:extLst>
          </p:cNvPr>
          <p:cNvSpPr txBox="1"/>
          <p:nvPr/>
        </p:nvSpPr>
        <p:spPr>
          <a:xfrm>
            <a:off x="1521770" y="2458789"/>
            <a:ext cx="7347910" cy="3170099"/>
          </a:xfrm>
          <a:prstGeom prst="rect">
            <a:avLst/>
          </a:prstGeom>
          <a:noFill/>
          <a:ln>
            <a:solidFill>
              <a:schemeClr val="bg1"/>
            </a:solidFill>
          </a:ln>
        </p:spPr>
        <p:txBody>
          <a:bodyPr wrap="square" rtlCol="0">
            <a:spAutoFit/>
          </a:bodyPr>
          <a:lstStyle/>
          <a:p>
            <a:pPr algn="r"/>
            <a:r>
              <a:rPr lang="en-US" sz="2000" b="1" dirty="0">
                <a:solidFill>
                  <a:srgbClr val="FFFF00"/>
                </a:solidFill>
              </a:rPr>
              <a:t>Question</a:t>
            </a:r>
            <a:r>
              <a:rPr lang="en-US" sz="2000" dirty="0">
                <a:solidFill>
                  <a:srgbClr val="FFFF00"/>
                </a:solidFill>
              </a:rPr>
              <a:t>: Where are our users located? </a:t>
            </a:r>
          </a:p>
          <a:p>
            <a:pPr algn="r"/>
            <a:r>
              <a:rPr lang="en-US" sz="2000" b="1" dirty="0">
                <a:solidFill>
                  <a:srgbClr val="FFFF00"/>
                </a:solidFill>
              </a:rPr>
              <a:t>Answer </a:t>
            </a:r>
            <a:r>
              <a:rPr lang="en-US" sz="2000" dirty="0">
                <a:solidFill>
                  <a:srgbClr val="FFFF00"/>
                </a:solidFill>
              </a:rPr>
              <a:t>: We have a global user base with local preferences.</a:t>
            </a:r>
          </a:p>
          <a:p>
            <a:pPr algn="r"/>
            <a:endParaRPr lang="en-US" sz="2000" dirty="0">
              <a:solidFill>
                <a:srgbClr val="FFFF00"/>
              </a:solidFill>
            </a:endParaRPr>
          </a:p>
          <a:p>
            <a:pPr algn="r"/>
            <a:r>
              <a:rPr lang="en-US" sz="2000" b="1" dirty="0">
                <a:solidFill>
                  <a:srgbClr val="FFFF00"/>
                </a:solidFill>
              </a:rPr>
              <a:t>Key Findings:</a:t>
            </a:r>
          </a:p>
          <a:p>
            <a:pPr algn="r"/>
            <a:r>
              <a:rPr lang="en-US" sz="2000" dirty="0">
                <a:solidFill>
                  <a:srgbClr val="FFFF00"/>
                </a:solidFill>
              </a:rPr>
              <a:t>1. </a:t>
            </a:r>
            <a:r>
              <a:rPr lang="en-US" sz="2000" b="1" dirty="0">
                <a:solidFill>
                  <a:srgbClr val="FFFF00"/>
                </a:solidFill>
              </a:rPr>
              <a:t>Payment methods differ</a:t>
            </a:r>
            <a:r>
              <a:rPr lang="en-US" sz="2000" dirty="0">
                <a:solidFill>
                  <a:srgbClr val="FFFF00"/>
                </a:solidFill>
              </a:rPr>
              <a:t> significantly by country (e.g., higher </a:t>
            </a:r>
            <a:r>
              <a:rPr lang="en-US" sz="2000" b="1" dirty="0">
                <a:solidFill>
                  <a:srgbClr val="FFFF00"/>
                </a:solidFill>
              </a:rPr>
              <a:t>Crypto usage </a:t>
            </a:r>
            <a:r>
              <a:rPr lang="en-US" sz="2000" dirty="0">
                <a:solidFill>
                  <a:srgbClr val="FFFF00"/>
                </a:solidFill>
              </a:rPr>
              <a:t>in </a:t>
            </a:r>
            <a:r>
              <a:rPr lang="en-US" sz="2000" b="1" dirty="0">
                <a:solidFill>
                  <a:srgbClr val="FFFF00"/>
                </a:solidFill>
              </a:rPr>
              <a:t>specific regions).</a:t>
            </a:r>
          </a:p>
          <a:p>
            <a:pPr algn="r"/>
            <a:r>
              <a:rPr lang="en-US" sz="2000" dirty="0">
                <a:solidFill>
                  <a:srgbClr val="FFFF00"/>
                </a:solidFill>
              </a:rPr>
              <a:t>2. </a:t>
            </a:r>
            <a:r>
              <a:rPr lang="en-US" sz="2000" b="1" dirty="0">
                <a:solidFill>
                  <a:srgbClr val="FFFF00"/>
                </a:solidFill>
              </a:rPr>
              <a:t>Language preferences strongly </a:t>
            </a:r>
            <a:r>
              <a:rPr lang="en-US" sz="2000" dirty="0">
                <a:solidFill>
                  <a:srgbClr val="FFFF00"/>
                </a:solidFill>
              </a:rPr>
              <a:t>match the </a:t>
            </a:r>
            <a:r>
              <a:rPr lang="en-US" sz="2000" b="1" dirty="0">
                <a:solidFill>
                  <a:srgbClr val="FFFF00"/>
                </a:solidFill>
              </a:rPr>
              <a:t>content consumption patterns.</a:t>
            </a:r>
          </a:p>
          <a:p>
            <a:pPr algn="r"/>
            <a:r>
              <a:rPr lang="en-US" sz="2000" dirty="0">
                <a:solidFill>
                  <a:srgbClr val="FFFF00"/>
                </a:solidFill>
              </a:rPr>
              <a:t>3.</a:t>
            </a:r>
            <a:r>
              <a:rPr lang="en-US" sz="2000" b="1" dirty="0">
                <a:solidFill>
                  <a:srgbClr val="FFFF00"/>
                </a:solidFill>
              </a:rPr>
              <a:t>Subscription tier preference </a:t>
            </a:r>
            <a:r>
              <a:rPr lang="en-US" sz="2000" dirty="0">
                <a:solidFill>
                  <a:srgbClr val="FFFF00"/>
                </a:solidFill>
              </a:rPr>
              <a:t>(Basic vs. Premium) varies by </a:t>
            </a:r>
            <a:r>
              <a:rPr lang="en-US" sz="2000" b="1" dirty="0">
                <a:solidFill>
                  <a:srgbClr val="FFFF00"/>
                </a:solidFill>
              </a:rPr>
              <a:t>regional wealth.</a:t>
            </a:r>
          </a:p>
        </p:txBody>
      </p:sp>
    </p:spTree>
    <p:extLst>
      <p:ext uri="{BB962C8B-B14F-4D97-AF65-F5344CB8AC3E}">
        <p14:creationId xmlns:p14="http://schemas.microsoft.com/office/powerpoint/2010/main" val="2513599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A366F-9C55-B826-87DB-F34C4F6EA7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356106-2F72-CB7E-14AB-13D448E853E5}"/>
              </a:ext>
            </a:extLst>
          </p:cNvPr>
          <p:cNvPicPr>
            <a:picLocks noChangeAspect="1"/>
          </p:cNvPicPr>
          <p:nvPr/>
        </p:nvPicPr>
        <p:blipFill>
          <a:blip r:embed="rId2">
            <a:alphaModFix amt="35000"/>
          </a:blip>
          <a:stretch>
            <a:fillRect/>
          </a:stretch>
        </p:blipFill>
        <p:spPr>
          <a:xfrm>
            <a:off x="-1" y="0"/>
            <a:ext cx="9131611"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Subtitle 2">
            <a:extLst>
              <a:ext uri="{FF2B5EF4-FFF2-40B4-BE49-F238E27FC236}">
                <a16:creationId xmlns:a16="http://schemas.microsoft.com/office/drawing/2014/main" id="{10C7B1FF-0E13-DAE3-D9B3-CCDBF95F686C}"/>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pic>
        <p:nvPicPr>
          <p:cNvPr id="3" name="Picture 2">
            <a:extLst>
              <a:ext uri="{FF2B5EF4-FFF2-40B4-BE49-F238E27FC236}">
                <a16:creationId xmlns:a16="http://schemas.microsoft.com/office/drawing/2014/main" id="{3C8E5B52-921E-B7BB-66C9-FA3344E2DC0A}"/>
              </a:ext>
            </a:extLst>
          </p:cNvPr>
          <p:cNvPicPr>
            <a:picLocks noChangeAspect="1"/>
          </p:cNvPicPr>
          <p:nvPr/>
        </p:nvPicPr>
        <p:blipFill>
          <a:blip r:embed="rId3"/>
          <a:stretch>
            <a:fillRect/>
          </a:stretch>
        </p:blipFill>
        <p:spPr>
          <a:xfrm>
            <a:off x="246862" y="666559"/>
            <a:ext cx="8637884" cy="5524881"/>
          </a:xfrm>
          <a:prstGeom prst="rect">
            <a:avLst/>
          </a:prstGeom>
        </p:spPr>
      </p:pic>
    </p:spTree>
    <p:extLst>
      <p:ext uri="{BB962C8B-B14F-4D97-AF65-F5344CB8AC3E}">
        <p14:creationId xmlns:p14="http://schemas.microsoft.com/office/powerpoint/2010/main" val="24489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F65C7-6BB4-D7EA-439F-F2CDE6E7A2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3214F8B-0487-4094-F46F-9D32B4404AD8}"/>
              </a:ext>
            </a:extLst>
          </p:cNvPr>
          <p:cNvPicPr>
            <a:picLocks noChangeAspect="1"/>
          </p:cNvPicPr>
          <p:nvPr/>
        </p:nvPicPr>
        <p:blipFill>
          <a:blip r:embed="rId2"/>
          <a:stretch>
            <a:fillRect/>
          </a:stretch>
        </p:blipFill>
        <p:spPr>
          <a:xfrm>
            <a:off x="-1" y="0"/>
            <a:ext cx="9131611" cy="6858000"/>
          </a:xfrm>
          <a:prstGeom prst="rect">
            <a:avLst/>
          </a:prstGeom>
        </p:spPr>
      </p:pic>
      <p:sp>
        <p:nvSpPr>
          <p:cNvPr id="6" name="Subtitle 2">
            <a:extLst>
              <a:ext uri="{FF2B5EF4-FFF2-40B4-BE49-F238E27FC236}">
                <a16:creationId xmlns:a16="http://schemas.microsoft.com/office/drawing/2014/main" id="{5DC4F024-AFB3-2B68-0E14-DCFDEBB35FCC}"/>
              </a:ext>
            </a:extLst>
          </p:cNvPr>
          <p:cNvSpPr txBox="1">
            <a:spLocks/>
          </p:cNvSpPr>
          <p:nvPr/>
        </p:nvSpPr>
        <p:spPr>
          <a:xfrm>
            <a:off x="2629210" y="6477000"/>
            <a:ext cx="6400800" cy="50292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sz="1600" b="1" dirty="0">
                <a:solidFill>
                  <a:schemeClr val="bg2">
                    <a:lumMod val="90000"/>
                  </a:schemeClr>
                </a:solidFill>
              </a:rPr>
              <a:t>Created by : Akash Jadhav</a:t>
            </a:r>
          </a:p>
        </p:txBody>
      </p:sp>
      <p:sp>
        <p:nvSpPr>
          <p:cNvPr id="3" name="TextBox 2">
            <a:extLst>
              <a:ext uri="{FF2B5EF4-FFF2-40B4-BE49-F238E27FC236}">
                <a16:creationId xmlns:a16="http://schemas.microsoft.com/office/drawing/2014/main" id="{74256CDA-1D6D-A247-140A-4E2C1427D15C}"/>
              </a:ext>
            </a:extLst>
          </p:cNvPr>
          <p:cNvSpPr txBox="1"/>
          <p:nvPr/>
        </p:nvSpPr>
        <p:spPr>
          <a:xfrm>
            <a:off x="1176330" y="1808549"/>
            <a:ext cx="7347910" cy="3046988"/>
          </a:xfrm>
          <a:prstGeom prst="rect">
            <a:avLst/>
          </a:prstGeom>
          <a:noFill/>
          <a:ln>
            <a:noFill/>
          </a:ln>
        </p:spPr>
        <p:txBody>
          <a:bodyPr wrap="square" rtlCol="0">
            <a:spAutoFit/>
          </a:bodyPr>
          <a:lstStyle/>
          <a:p>
            <a:pPr algn="ctr"/>
            <a:r>
              <a:rPr lang="en-US" sz="9600" b="1" dirty="0">
                <a:solidFill>
                  <a:srgbClr val="FFFF00"/>
                </a:solidFill>
              </a:rPr>
              <a:t>Thank </a:t>
            </a:r>
          </a:p>
          <a:p>
            <a:pPr algn="ctr"/>
            <a:r>
              <a:rPr lang="en-US" sz="9600" b="1" dirty="0">
                <a:solidFill>
                  <a:srgbClr val="FFFF00"/>
                </a:solidFill>
              </a:rPr>
              <a:t>You.</a:t>
            </a:r>
          </a:p>
        </p:txBody>
      </p:sp>
    </p:spTree>
    <p:extLst>
      <p:ext uri="{BB962C8B-B14F-4D97-AF65-F5344CB8AC3E}">
        <p14:creationId xmlns:p14="http://schemas.microsoft.com/office/powerpoint/2010/main" val="923662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82</TotalTime>
  <Words>985</Words>
  <Application>Microsoft Office PowerPoint</Application>
  <PresentationFormat>On-screen Show (4:3)</PresentationFormat>
  <Paragraphs>110</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Streaming Service Performance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komal jadhav</cp:lastModifiedBy>
  <cp:revision>3</cp:revision>
  <dcterms:created xsi:type="dcterms:W3CDTF">2013-01-27T09:14:16Z</dcterms:created>
  <dcterms:modified xsi:type="dcterms:W3CDTF">2026-01-04T14:21:34Z</dcterms:modified>
  <cp:category/>
</cp:coreProperties>
</file>